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7" r:id="rId2"/>
    <p:sldId id="289" r:id="rId3"/>
    <p:sldId id="290" r:id="rId4"/>
    <p:sldId id="291" r:id="rId5"/>
    <p:sldId id="292" r:id="rId6"/>
    <p:sldId id="276" r:id="rId7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7132"/>
    <a:srgbClr val="EAC927"/>
    <a:srgbClr val="FFFBF1"/>
    <a:srgbClr val="397E89"/>
    <a:srgbClr val="92D050"/>
    <a:srgbClr val="E06742"/>
    <a:srgbClr val="213652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0D1E58-60E1-37BA-F025-1D9BCB5F540A}" v="2" dt="2025-10-26T12:05:46.034"/>
    <p1510:client id="{5B9BFC4B-ED2A-1110-D55C-F717F33A4223}" v="4" dt="2025-10-26T12:20:04.930"/>
    <p1510:client id="{E40000C6-7DFB-4DBC-BC2E-7DC6D356D52D}" v="6" dt="2025-10-26T12:17:06.5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7" autoAdjust="0"/>
    <p:restoredTop sz="83377" autoAdjust="0"/>
  </p:normalViewPr>
  <p:slideViewPr>
    <p:cSldViewPr snapToGrid="0">
      <p:cViewPr varScale="1">
        <p:scale>
          <a:sx n="75" d="100"/>
          <a:sy n="75" d="100"/>
        </p:scale>
        <p:origin x="979" y="26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ED4EF3-11F5-464B-BE08-B3F5830FC47E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62B185-B3AE-4AD7-9FA8-7E1D1849DD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566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1F732E-DD6C-0EC2-7632-78372693F7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776604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214390-0176-2447-5AD5-FC3A10D9EB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EA8442D-B7BA-88F3-5D0F-DABC608DD2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2D9582-3E24-3EB9-CF29-D356CA7333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BF1F3E-8F59-EF7C-9691-F315E91394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50D5E19-E7CA-45F6-8D44-210B4E61BA9F}" type="slidenum">
              <a:rPr lang="it-IT" smtClean="0"/>
              <a:t>6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60645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98D0AB-8B15-3CF1-EFA5-E234861E65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451B8FE-528D-EE52-A846-C30A718F4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2D083-2392-BDAC-002C-E329F72D9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38E3D-7724-4C16-9CBD-53B612EFF5DC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707B29-879A-D8BE-542D-ED4C36C86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78C30-0650-9C67-CE18-51446CEB8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72F3D-0213-4B37-806D-9345A5C7A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8742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D89DB0-2B21-84B5-A04A-96459D064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052BCD-CD92-285D-3F88-2CD38DEE9F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D091AB-28CA-E907-9008-A9501DD1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38E3D-7724-4C16-9CBD-53B612EFF5DC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45743-B0CE-1CA9-6240-61363D353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F3D6AC-1501-AD2D-F726-A8F4E95C0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72F3D-0213-4B37-806D-9345A5C7A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6047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0B967-AAE8-220F-9B1B-08030C922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558A2D-DEC9-1549-638F-C8A2F80F7B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3FFE11-828B-1F6B-1B08-1A01CAB9F6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38E3D-7724-4C16-9CBD-53B612EFF5DC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9B309E-6359-EDD5-16FF-B78268B48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2C0839-DF56-E7C8-A73E-FC3B14025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72F3D-0213-4B37-806D-9345A5C7A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365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243C3-671B-BD07-69AE-90A8B0968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87AF5-40CF-B38A-44F8-38F0800B4A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8972D0-FFB6-A7D3-20AF-D1686B5477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18F2F3-4BBB-C41A-3845-7E1557932A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38E3D-7724-4C16-9CBD-53B612EFF5DC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6C54D1-D358-E38D-DA62-7BAE943836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F4DB1E-AFBA-5781-EAA8-159DF1242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72F3D-0213-4B37-806D-9345A5C7A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29994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6A5D79-A00D-70F1-D1CA-5D7C43BD0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0D7A8-78D2-9451-0E63-C2F1DF56B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430330-2595-51B5-6662-903F392783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C6C2088-13E2-7DA2-E67E-16ACE4A97C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C43A15A-C2B8-7B7E-30F3-7B398D76AB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AB09B3-0240-8E84-6CDB-6E072999B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38E3D-7724-4C16-9CBD-53B612EFF5DC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8B91A9-3228-5E7A-9341-DB532A325C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A6FAAB-45E0-63CF-ECE8-14C84D247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72F3D-0213-4B37-806D-9345A5C7A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85182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A17870-B112-4DAA-848E-BE2B9F30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A789B6-882D-5FA0-DE15-41F35AC7EB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38E3D-7724-4C16-9CBD-53B612EFF5DC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D94E1E-E261-9F68-2BF9-EFEC47420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7D76A4-A987-C626-2F27-BAE42B029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72F3D-0213-4B37-806D-9345A5C7A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465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D1B59F-6794-6D94-F95D-6AA407241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38E3D-7724-4C16-9CBD-53B612EFF5DC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000CA6-1A11-A0E7-6985-FC108D9080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51B0DC-50AD-849D-4B9A-452A51BF5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72F3D-0213-4B37-806D-9345A5C7A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90574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74BBC-0CEB-54B8-BE75-61F9A8DD8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16C523-BC4E-4F46-1A78-F0FC00A3A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E8A8FF-E0B1-6B42-D3E4-691C66FE20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C86E67-F51A-9F51-94FD-7CC066B2D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38E3D-7724-4C16-9CBD-53B612EFF5DC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CFEB54-F840-487D-2DAF-E77B94B5F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EE3A9D-6A34-0B5A-FB19-7335F2F53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72F3D-0213-4B37-806D-9345A5C7A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3890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D4B0A-13D8-1123-7253-EFCE5DDC6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9AE598C-10B8-E059-442E-D56EB311E7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044339-FB28-F598-C64E-436BA4A2CE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7250C5-7781-C53F-920C-635B45049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38E3D-7724-4C16-9CBD-53B612EFF5DC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A4BC8E-46F5-E5D2-1661-06C48CD58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A1EC58-8FB1-0191-C116-220757CE29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72F3D-0213-4B37-806D-9345A5C7A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194397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13B2B-D004-733A-9236-57A165D4A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518C5C-04EB-1D77-8D95-1C10069FAD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1A3A80-96A6-7A86-2FDD-1AD055766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38E3D-7724-4C16-9CBD-53B612EFF5DC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5FA5C2-2E06-3F2F-261B-FE872F6241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E8605B-DADC-C73B-B1D0-9B120B930D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72F3D-0213-4B37-806D-9345A5C7A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81270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25C0AF-5961-D219-7427-1C446EF119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802303-F9D0-E5DC-DA91-DEA8CD947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30A377-07D2-25D7-E95F-D4D5F655A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238E3D-7724-4C16-9CBD-53B612EFF5DC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084A6-FB44-38B2-661E-545F3D6983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DB7B94-34E7-1CFE-5B09-5BA8095BFA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772F3D-0213-4B37-806D-9345A5C7A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22397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64" b="42715"/>
          <a:stretch/>
        </p:blipFill>
        <p:spPr>
          <a:xfrm>
            <a:off x="0" y="1485900"/>
            <a:ext cx="12192000" cy="53721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6675"/>
            <a:ext cx="4552632" cy="1348649"/>
          </a:xfrm>
          <a:prstGeom prst="rect">
            <a:avLst/>
          </a:prstGeom>
        </p:spPr>
      </p:pic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838200" y="2441055"/>
            <a:ext cx="10515600" cy="1325563"/>
          </a:xfrm>
        </p:spPr>
        <p:txBody>
          <a:bodyPr/>
          <a:lstStyle>
            <a:lvl1pPr algn="ctr">
              <a:defRPr b="1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Thesis Title</a:t>
            </a:r>
            <a:endParaRPr lang="it-IT" dirty="0"/>
          </a:p>
        </p:txBody>
      </p:sp>
      <p:sp>
        <p:nvSpPr>
          <p:cNvPr id="16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393353" y="5415995"/>
            <a:ext cx="3527854" cy="3198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Supervisor</a:t>
            </a:r>
            <a:endParaRPr lang="it-IT" dirty="0"/>
          </a:p>
        </p:txBody>
      </p:sp>
      <p:sp>
        <p:nvSpPr>
          <p:cNvPr id="17" name="Text Placeholder 10"/>
          <p:cNvSpPr>
            <a:spLocks noGrp="1"/>
          </p:cNvSpPr>
          <p:nvPr>
            <p:ph type="body" sz="quarter" idx="12" hasCustomPrompt="1"/>
          </p:nvPr>
        </p:nvSpPr>
        <p:spPr>
          <a:xfrm>
            <a:off x="393353" y="5888254"/>
            <a:ext cx="3527854" cy="31985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Co-Supervisor</a:t>
            </a:r>
            <a:endParaRPr lang="it-IT" dirty="0"/>
          </a:p>
        </p:txBody>
      </p:sp>
      <p:sp>
        <p:nvSpPr>
          <p:cNvPr id="20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8305798" y="5415995"/>
            <a:ext cx="3527854" cy="31985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Candidate</a:t>
            </a:r>
            <a:endParaRPr lang="it-IT" dirty="0"/>
          </a:p>
        </p:txBody>
      </p:sp>
      <p:sp>
        <p:nvSpPr>
          <p:cNvPr id="21" name="Text Placeholder 10"/>
          <p:cNvSpPr>
            <a:spLocks noGrp="1"/>
          </p:cNvSpPr>
          <p:nvPr>
            <p:ph type="body" sz="quarter" idx="15" hasCustomPrompt="1"/>
          </p:nvPr>
        </p:nvSpPr>
        <p:spPr>
          <a:xfrm>
            <a:off x="8305798" y="5888254"/>
            <a:ext cx="3527854" cy="319859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600" b="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Academic Year</a:t>
            </a:r>
            <a:endParaRPr lang="it-IT" dirty="0"/>
          </a:p>
        </p:txBody>
      </p:sp>
      <p:sp>
        <p:nvSpPr>
          <p:cNvPr id="22" name="TextBox 21"/>
          <p:cNvSpPr txBox="1"/>
          <p:nvPr userDrawn="1"/>
        </p:nvSpPr>
        <p:spPr>
          <a:xfrm>
            <a:off x="4251979" y="6285667"/>
            <a:ext cx="36880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1200" baseline="0" dirty="0">
                <a:solidFill>
                  <a:schemeClr val="bg1"/>
                </a:solidFill>
                <a:latin typeface="+mj-lt"/>
              </a:rPr>
              <a:t>School of Industrial and Information Engineering</a:t>
            </a:r>
          </a:p>
          <a:p>
            <a:pPr algn="ctr"/>
            <a:r>
              <a:rPr lang="it-IT" sz="1600" baseline="0" dirty="0">
                <a:solidFill>
                  <a:schemeClr val="bg1"/>
                </a:solidFill>
                <a:latin typeface="+mj-lt"/>
              </a:rPr>
              <a:t>Master of Science – Energy Engineering</a:t>
            </a:r>
          </a:p>
        </p:txBody>
      </p:sp>
    </p:spTree>
    <p:extLst>
      <p:ext uri="{BB962C8B-B14F-4D97-AF65-F5344CB8AC3E}">
        <p14:creationId xmlns:p14="http://schemas.microsoft.com/office/powerpoint/2010/main" val="24216725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1" b="2733"/>
          <a:stretch/>
        </p:blipFill>
        <p:spPr>
          <a:xfrm>
            <a:off x="-1" y="6226218"/>
            <a:ext cx="12191999" cy="631782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196" r="782"/>
          <a:stretch/>
        </p:blipFill>
        <p:spPr>
          <a:xfrm>
            <a:off x="0" y="0"/>
            <a:ext cx="12191999" cy="102380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32" y="6267469"/>
            <a:ext cx="3083718" cy="551728"/>
          </a:xfrm>
          <a:prstGeom prst="rect">
            <a:avLst/>
          </a:prstGeom>
        </p:spPr>
      </p:pic>
      <p:sp>
        <p:nvSpPr>
          <p:cNvPr id="18" name="Title 17"/>
          <p:cNvSpPr>
            <a:spLocks noGrp="1"/>
          </p:cNvSpPr>
          <p:nvPr>
            <p:ph type="title"/>
          </p:nvPr>
        </p:nvSpPr>
        <p:spPr>
          <a:xfrm>
            <a:off x="105355" y="90617"/>
            <a:ext cx="6971271" cy="543697"/>
          </a:xfrm>
        </p:spPr>
        <p:txBody>
          <a:bodyPr>
            <a:normAutofit/>
          </a:bodyPr>
          <a:lstStyle>
            <a:lvl1pPr>
              <a:defRPr sz="2800" b="1" i="1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0817943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490FB9-70AC-F9A9-CB81-173268F79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9B47FB-E4AB-F694-BCDA-E12EC021F5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6518D2-7F5A-D2AB-3F12-3F8BA74730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238E3D-7724-4C16-9CBD-53B612EFF5DC}" type="datetimeFigureOut">
              <a:rPr lang="en-GB" smtClean="0"/>
              <a:t>27/10/2025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71C138-BF7C-A670-D4E5-3826C7ADDD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AD6607-80CD-7CD6-F43E-6ABCC9A9F5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772F3D-0213-4B37-806D-9345A5C7A8E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32534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jpg"/><Relationship Id="rId3" Type="http://schemas.openxmlformats.org/officeDocument/2006/relationships/image" Target="../media/image9.png"/><Relationship Id="rId7" Type="http://schemas.openxmlformats.org/officeDocument/2006/relationships/image" Target="../media/image13.jpeg"/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594360" y="2146825"/>
            <a:ext cx="4638040" cy="2304152"/>
          </a:xfrm>
        </p:spPr>
        <p:txBody>
          <a:bodyPr>
            <a:normAutofit/>
          </a:bodyPr>
          <a:lstStyle/>
          <a:p>
            <a:r>
              <a:rPr lang="en-US" sz="4000" dirty="0"/>
              <a:t>Progetto SOSTA</a:t>
            </a:r>
            <a:br>
              <a:rPr lang="en-US" sz="4000" dirty="0"/>
            </a:br>
            <a:r>
              <a:rPr lang="en-US" sz="2800" dirty="0"/>
              <a:t>(System for Observation, Storage and Testing Analysis)</a:t>
            </a:r>
            <a:r>
              <a:rPr lang="en-US" sz="2800" noProof="0" dirty="0"/>
              <a:t> </a:t>
            </a:r>
            <a:endParaRPr lang="en-US" sz="4000" noProof="0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2"/>
          </p:nvPr>
        </p:nvSpPr>
        <p:spPr>
          <a:xfrm>
            <a:off x="393353" y="4883447"/>
            <a:ext cx="3527854" cy="1284878"/>
          </a:xfrm>
        </p:spPr>
        <p:txBody>
          <a:bodyPr>
            <a:normAutofit lnSpcReduction="10000"/>
          </a:bodyPr>
          <a:lstStyle/>
          <a:p>
            <a:r>
              <a:rPr lang="en-US" dirty="0" err="1"/>
              <a:t>Aaaa</a:t>
            </a:r>
            <a:endParaRPr lang="en-US" dirty="0"/>
          </a:p>
          <a:p>
            <a:r>
              <a:rPr lang="en-US" dirty="0" err="1"/>
              <a:t>Bbbb</a:t>
            </a:r>
            <a:endParaRPr lang="en-US" dirty="0"/>
          </a:p>
          <a:p>
            <a:r>
              <a:rPr lang="en-US" dirty="0" err="1"/>
              <a:t>Cccc</a:t>
            </a:r>
            <a:endParaRPr lang="en-US" dirty="0"/>
          </a:p>
          <a:p>
            <a:r>
              <a:rPr lang="en-US" dirty="0" err="1"/>
              <a:t>dddd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90D611-4C62-C143-53C4-186BF5A59C39}"/>
              </a:ext>
            </a:extLst>
          </p:cNvPr>
          <p:cNvSpPr/>
          <p:nvPr/>
        </p:nvSpPr>
        <p:spPr>
          <a:xfrm>
            <a:off x="4371833" y="6250675"/>
            <a:ext cx="3457433" cy="564107"/>
          </a:xfrm>
          <a:prstGeom prst="rect">
            <a:avLst/>
          </a:prstGeom>
          <a:solidFill>
            <a:srgbClr val="213652"/>
          </a:solidFill>
          <a:ln>
            <a:solidFill>
              <a:srgbClr val="2136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CDB2BAB-1B55-4E85-5BBD-46A3DB6550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4818" y="2146824"/>
            <a:ext cx="6362862" cy="4317657"/>
          </a:xfrm>
          <a:prstGeom prst="rect">
            <a:avLst/>
          </a:prstGeom>
        </p:spPr>
      </p:pic>
      <p:pic>
        <p:nvPicPr>
          <p:cNvPr id="1026" name="Picture 2" descr="Club Alpino Italiano - Wikipedia">
            <a:extLst>
              <a:ext uri="{FF2B5EF4-FFF2-40B4-BE49-F238E27FC236}">
                <a16:creationId xmlns:a16="http://schemas.microsoft.com/office/drawing/2014/main" id="{D4E25602-2F3D-2CDD-2A99-F75F72E089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99585" y="50046"/>
            <a:ext cx="1675670" cy="1356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4CA9736-B539-DBF6-3D42-8F80054C25DA}"/>
              </a:ext>
            </a:extLst>
          </p:cNvPr>
          <p:cNvSpPr txBox="1"/>
          <p:nvPr/>
        </p:nvSpPr>
        <p:spPr>
          <a:xfrm>
            <a:off x="5029200" y="543560"/>
            <a:ext cx="15443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i="1" dirty="0">
                <a:latin typeface="Book Antiqua" panose="02040602050305030304" pitchFamily="18" charset="0"/>
              </a:rPr>
              <a:t>for</a:t>
            </a:r>
            <a:endParaRPr lang="en-US" b="1" i="1" dirty="0">
              <a:latin typeface="Book Antiqua" panose="02040602050305030304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F24F460-2FEC-70E4-92C8-5968E497B534}"/>
              </a:ext>
            </a:extLst>
          </p:cNvPr>
          <p:cNvSpPr txBox="1"/>
          <p:nvPr/>
        </p:nvSpPr>
        <p:spPr>
          <a:xfrm>
            <a:off x="7375255" y="238775"/>
            <a:ext cx="473456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it-IT" sz="3200" b="1" i="0" dirty="0">
                <a:solidFill>
                  <a:srgbClr val="002D65"/>
                </a:solidFill>
                <a:effectLst/>
                <a:latin typeface="Titillium Web" panose="00000500000000000000" pitchFamily="2" charset="0"/>
              </a:rPr>
              <a:t>Centro Studi Materiali e Tecniche</a:t>
            </a:r>
          </a:p>
        </p:txBody>
      </p:sp>
    </p:spTree>
    <p:extLst>
      <p:ext uri="{BB962C8B-B14F-4D97-AF65-F5344CB8AC3E}">
        <p14:creationId xmlns:p14="http://schemas.microsoft.com/office/powerpoint/2010/main" val="6013615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24C37B22-7CEE-E51C-D0ED-28D3650410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69" b="101"/>
          <a:stretch>
            <a:fillRect/>
          </a:stretch>
        </p:blipFill>
        <p:spPr>
          <a:xfrm>
            <a:off x="3251" y="1018186"/>
            <a:ext cx="3093045" cy="51944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06644D9-EC0B-DF51-6BCB-2C0770AB1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Architecture </a:t>
            </a:r>
            <a:r>
              <a:rPr lang="it-IT" dirty="0" err="1"/>
              <a:t>solution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E748619-E8EA-F080-BF80-25C4A4CA9A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8279" y="1386298"/>
            <a:ext cx="3294561" cy="173477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791BF67-BE01-0E4B-6412-8CD1E52F24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8280" y="2951689"/>
            <a:ext cx="818684" cy="16938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FAEC133-560D-1917-E1C4-66FDF724A9A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9438" y="3945275"/>
            <a:ext cx="3027188" cy="191217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1A0E916-A9D8-4912-22AB-23E52257544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33615" y="1018186"/>
            <a:ext cx="2177296" cy="1749613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2F20ADF2-30B9-B708-8824-548B884DAB3D}"/>
              </a:ext>
            </a:extLst>
          </p:cNvPr>
          <p:cNvSpPr txBox="1"/>
          <p:nvPr/>
        </p:nvSpPr>
        <p:spPr>
          <a:xfrm>
            <a:off x="3899453" y="2630161"/>
            <a:ext cx="2011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chemeClr val="tx2"/>
                </a:solidFill>
              </a:rPr>
              <a:t>LAUMAS CTL500</a:t>
            </a:r>
            <a:endParaRPr lang="en-US" sz="1600" b="1" dirty="0">
              <a:solidFill>
                <a:schemeClr val="tx2"/>
              </a:solidFill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9663915-EF1C-F93D-62E2-C3B8A5F51089}"/>
              </a:ext>
            </a:extLst>
          </p:cNvPr>
          <p:cNvSpPr txBox="1"/>
          <p:nvPr/>
        </p:nvSpPr>
        <p:spPr>
          <a:xfrm>
            <a:off x="7955280" y="4997114"/>
            <a:ext cx="166601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b="1" dirty="0">
                <a:solidFill>
                  <a:schemeClr val="bg1"/>
                </a:solidFill>
              </a:rPr>
              <a:t>ARDUINO OPTA</a:t>
            </a:r>
            <a:endParaRPr lang="en-US" sz="1600" b="1" dirty="0">
              <a:solidFill>
                <a:schemeClr val="bg1"/>
              </a:solidFill>
            </a:endParaRPr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2067BFB8-9D1C-A9C7-BDC7-9FDABFC9DA9C}"/>
              </a:ext>
            </a:extLst>
          </p:cNvPr>
          <p:cNvSpPr/>
          <p:nvPr/>
        </p:nvSpPr>
        <p:spPr>
          <a:xfrm rot="16200000">
            <a:off x="5842000" y="2283773"/>
            <a:ext cx="254000" cy="51566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9D7ED32B-DBDF-E7D0-F0CF-94DB9774A495}"/>
              </a:ext>
            </a:extLst>
          </p:cNvPr>
          <p:cNvSpPr/>
          <p:nvPr/>
        </p:nvSpPr>
        <p:spPr>
          <a:xfrm rot="16200000">
            <a:off x="7487424" y="4643529"/>
            <a:ext cx="254000" cy="51566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87C5EFD6-CF84-6676-0AF2-6978E6777F21}"/>
              </a:ext>
            </a:extLst>
          </p:cNvPr>
          <p:cNvSpPr/>
          <p:nvPr/>
        </p:nvSpPr>
        <p:spPr>
          <a:xfrm rot="3163490">
            <a:off x="5842001" y="3199162"/>
            <a:ext cx="254000" cy="51566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2" name="Picture 4" descr="Wifi, wireless internet connection | Premium Vector">
            <a:extLst>
              <a:ext uri="{FF2B5EF4-FFF2-40B4-BE49-F238E27FC236}">
                <a16:creationId xmlns:a16="http://schemas.microsoft.com/office/drawing/2014/main" id="{4609D217-30A6-18FC-2BA1-9DFF219C8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53185" y="4388025"/>
            <a:ext cx="1793685" cy="1793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3" descr="A close up of a usb drive&#10;&#10;AI-generated content may be incorrect.">
            <a:extLst>
              <a:ext uri="{FF2B5EF4-FFF2-40B4-BE49-F238E27FC236}">
                <a16:creationId xmlns:a16="http://schemas.microsoft.com/office/drawing/2014/main" id="{66CDE9C1-E492-196C-85BB-CB54952CF9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39" t="24592" r="12370" b="13037"/>
          <a:stretch>
            <a:fillRect/>
          </a:stretch>
        </p:blipFill>
        <p:spPr>
          <a:xfrm>
            <a:off x="9544210" y="4007648"/>
            <a:ext cx="1736478" cy="178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4948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FCEE0-D2D0-626A-8F91-F01084E37A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MVD2555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797052B-EB84-2D86-0C0A-AC585693D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457" y="1107119"/>
            <a:ext cx="4941272" cy="317024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782BD1B-17DD-4C2B-5EE8-FE4B573A5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5537" y="1181618"/>
            <a:ext cx="6696463" cy="3095742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E79A050-7811-69AD-BECC-3BEAB64342F1}"/>
              </a:ext>
            </a:extLst>
          </p:cNvPr>
          <p:cNvSpPr/>
          <p:nvPr/>
        </p:nvSpPr>
        <p:spPr>
          <a:xfrm>
            <a:off x="5708072" y="2176703"/>
            <a:ext cx="1696412" cy="665018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9FF4996-7415-47DA-2F11-2FDC8B668863}"/>
              </a:ext>
            </a:extLst>
          </p:cNvPr>
          <p:cNvSpPr/>
          <p:nvPr/>
        </p:nvSpPr>
        <p:spPr>
          <a:xfrm>
            <a:off x="177251" y="4775031"/>
            <a:ext cx="281999" cy="137113"/>
          </a:xfrm>
          <a:prstGeom prst="roundRect">
            <a:avLst/>
          </a:prstGeom>
          <a:noFill/>
          <a:ln w="57150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ABCEB23-0993-D97B-C83F-7F9C262FAF60}"/>
              </a:ext>
            </a:extLst>
          </p:cNvPr>
          <p:cNvSpPr txBox="1"/>
          <p:nvPr/>
        </p:nvSpPr>
        <p:spPr>
          <a:xfrm>
            <a:off x="615067" y="4688873"/>
            <a:ext cx="2218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Collegamento Cella </a:t>
            </a:r>
            <a:r>
              <a:rPr lang="it-IT" sz="1200" dirty="0">
                <a:sym typeface="Wingdings" panose="05000000000000000000" pitchFamily="2" charset="2"/>
              </a:rPr>
              <a:t> MVD</a:t>
            </a:r>
          </a:p>
          <a:p>
            <a:r>
              <a:rPr lang="it-IT" sz="1200" dirty="0">
                <a:sym typeface="Wingdings" panose="05000000000000000000" pitchFamily="2" charset="2"/>
              </a:rPr>
              <a:t>	1 cavo 6 fili</a:t>
            </a:r>
            <a:r>
              <a:rPr lang="it-IT" sz="1200" dirty="0"/>
              <a:t> </a:t>
            </a:r>
            <a:endParaRPr lang="en-US" sz="1200" dirty="0"/>
          </a:p>
        </p:txBody>
      </p:sp>
      <p:pic>
        <p:nvPicPr>
          <p:cNvPr id="8" name="Graphic 7" descr="Checkmark with solid fill">
            <a:extLst>
              <a:ext uri="{FF2B5EF4-FFF2-40B4-BE49-F238E27FC236}">
                <a16:creationId xmlns:a16="http://schemas.microsoft.com/office/drawing/2014/main" id="{B106D2AB-8276-E9A6-8446-A735E8F1861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624970" y="4746582"/>
            <a:ext cx="331123" cy="331123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0E89F62-7ED5-70C4-BD00-69AF70E5916D}"/>
              </a:ext>
            </a:extLst>
          </p:cNvPr>
          <p:cNvSpPr/>
          <p:nvPr/>
        </p:nvSpPr>
        <p:spPr>
          <a:xfrm>
            <a:off x="10558652" y="3464927"/>
            <a:ext cx="1324446" cy="426399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82AA5F9F-2585-5B6A-5379-064A4CD4AFC0}"/>
              </a:ext>
            </a:extLst>
          </p:cNvPr>
          <p:cNvSpPr/>
          <p:nvPr/>
        </p:nvSpPr>
        <p:spPr>
          <a:xfrm>
            <a:off x="177251" y="5335295"/>
            <a:ext cx="281999" cy="137113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Graphic 14" descr="Checkmark with solid fill">
            <a:extLst>
              <a:ext uri="{FF2B5EF4-FFF2-40B4-BE49-F238E27FC236}">
                <a16:creationId xmlns:a16="http://schemas.microsoft.com/office/drawing/2014/main" id="{720F29E1-F02E-45C9-64D2-D3B29AAAED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81358" y="5273973"/>
            <a:ext cx="331123" cy="33112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2763F45-4E4A-FFDB-6455-8E641EC62EEA}"/>
              </a:ext>
            </a:extLst>
          </p:cNvPr>
          <p:cNvSpPr txBox="1"/>
          <p:nvPr/>
        </p:nvSpPr>
        <p:spPr>
          <a:xfrm>
            <a:off x="572187" y="5273973"/>
            <a:ext cx="22183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Alimentazione</a:t>
            </a:r>
            <a:endParaRPr lang="en-US" sz="12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257C7E72-6DCE-672E-F1FA-E448B9D6C255}"/>
              </a:ext>
            </a:extLst>
          </p:cNvPr>
          <p:cNvSpPr/>
          <p:nvPr/>
        </p:nvSpPr>
        <p:spPr>
          <a:xfrm>
            <a:off x="7766932" y="3678126"/>
            <a:ext cx="2734316" cy="299309"/>
          </a:xfrm>
          <a:prstGeom prst="round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F1C1859D-216E-A089-375D-1C0B9EC31E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90863" y="4541089"/>
            <a:ext cx="1200254" cy="685859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C4B93C6-BAC4-729B-F9E1-77D9609D631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35733" y="5540038"/>
            <a:ext cx="2371837" cy="603124"/>
          </a:xfrm>
          <a:prstGeom prst="rect">
            <a:avLst/>
          </a:prstGeom>
        </p:spPr>
      </p:pic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84B69B5F-0835-4439-2231-57FFCBE097A9}"/>
              </a:ext>
            </a:extLst>
          </p:cNvPr>
          <p:cNvCxnSpPr/>
          <p:nvPr/>
        </p:nvCxnSpPr>
        <p:spPr>
          <a:xfrm flipV="1">
            <a:off x="6343323" y="1107119"/>
            <a:ext cx="674044" cy="544026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8749136-1A29-275C-114B-9C7E7AE5EDE4}"/>
              </a:ext>
            </a:extLst>
          </p:cNvPr>
          <p:cNvCxnSpPr/>
          <p:nvPr/>
        </p:nvCxnSpPr>
        <p:spPr>
          <a:xfrm flipV="1">
            <a:off x="6306342" y="3292780"/>
            <a:ext cx="674044" cy="544026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B9BD57A-A4C8-EE76-FB6A-0ACA85289759}"/>
              </a:ext>
            </a:extLst>
          </p:cNvPr>
          <p:cNvCxnSpPr>
            <a:cxnSpLocks/>
          </p:cNvCxnSpPr>
          <p:nvPr/>
        </p:nvCxnSpPr>
        <p:spPr>
          <a:xfrm flipV="1">
            <a:off x="5042263" y="4769994"/>
            <a:ext cx="260755" cy="240918"/>
          </a:xfrm>
          <a:prstGeom prst="line">
            <a:avLst/>
          </a:prstGeom>
          <a:ln>
            <a:solidFill>
              <a:schemeClr val="accent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AFBC193-A95B-BC23-3E98-3254472C9712}"/>
              </a:ext>
            </a:extLst>
          </p:cNvPr>
          <p:cNvSpPr/>
          <p:nvPr/>
        </p:nvSpPr>
        <p:spPr>
          <a:xfrm>
            <a:off x="5021019" y="5605096"/>
            <a:ext cx="281999" cy="137113"/>
          </a:xfrm>
          <a:prstGeom prst="round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46CF0E0-66AF-23D1-739B-2FAD403E182E}"/>
              </a:ext>
            </a:extLst>
          </p:cNvPr>
          <p:cNvSpPr txBox="1"/>
          <p:nvPr/>
        </p:nvSpPr>
        <p:spPr>
          <a:xfrm>
            <a:off x="5415956" y="5533292"/>
            <a:ext cx="22183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Collegamento MVD </a:t>
            </a:r>
            <a:r>
              <a:rPr lang="it-IT" sz="1200" dirty="0">
                <a:sym typeface="Wingdings" panose="05000000000000000000" pitchFamily="2" charset="2"/>
              </a:rPr>
              <a:t> OPTA</a:t>
            </a:r>
          </a:p>
          <a:p>
            <a:r>
              <a:rPr lang="it-IT" sz="1200" dirty="0">
                <a:sym typeface="Wingdings" panose="05000000000000000000" pitchFamily="2" charset="2"/>
              </a:rPr>
              <a:t>(</a:t>
            </a:r>
            <a:r>
              <a:rPr lang="it-IT" sz="1200" dirty="0" err="1">
                <a:sym typeface="Wingdings" panose="05000000000000000000" pitchFamily="2" charset="2"/>
              </a:rPr>
              <a:t>next</a:t>
            </a:r>
            <a:r>
              <a:rPr lang="it-IT" sz="1200" dirty="0">
                <a:sym typeface="Wingdings" panose="05000000000000000000" pitchFamily="2" charset="2"/>
              </a:rPr>
              <a:t> slide)</a:t>
            </a:r>
            <a:endParaRPr lang="en-US" sz="12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6BC267-26BB-42EF-39F0-4C3961FF4B18}"/>
              </a:ext>
            </a:extLst>
          </p:cNvPr>
          <p:cNvSpPr txBox="1"/>
          <p:nvPr/>
        </p:nvSpPr>
        <p:spPr>
          <a:xfrm>
            <a:off x="5415955" y="4770135"/>
            <a:ext cx="221834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dirty="0"/>
              <a:t>Non usiamo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536664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2CDA5BD1-EF73-708F-CEDC-02399280C3D9}"/>
              </a:ext>
            </a:extLst>
          </p:cNvPr>
          <p:cNvSpPr txBox="1"/>
          <p:nvPr/>
        </p:nvSpPr>
        <p:spPr>
          <a:xfrm>
            <a:off x="2969796" y="1740631"/>
            <a:ext cx="610557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INPUT</a:t>
            </a:r>
          </a:p>
          <a:p>
            <a:r>
              <a:rPr lang="it-IT" dirty="0"/>
              <a:t>13 = </a:t>
            </a:r>
          </a:p>
          <a:p>
            <a:r>
              <a:rPr lang="it-IT" dirty="0"/>
              <a:t>14 = </a:t>
            </a:r>
          </a:p>
          <a:p>
            <a:r>
              <a:rPr lang="it-IT" dirty="0"/>
              <a:t>15 =</a:t>
            </a:r>
          </a:p>
          <a:p>
            <a:r>
              <a:rPr lang="it-IT" dirty="0"/>
              <a:t>16 =</a:t>
            </a:r>
          </a:p>
          <a:p>
            <a:r>
              <a:rPr lang="it-IT" dirty="0"/>
              <a:t>17 =</a:t>
            </a:r>
          </a:p>
          <a:p>
            <a:r>
              <a:rPr lang="it-IT" dirty="0"/>
              <a:t>18 =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4CB3D0-6A57-5A34-0235-883B937B88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MVD </a:t>
            </a:r>
            <a:r>
              <a:rPr lang="it-IT" dirty="0">
                <a:sym typeface="Wingdings" panose="05000000000000000000" pitchFamily="2" charset="2"/>
              </a:rPr>
              <a:t>  OPTA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364C27B-6CDF-980A-2C7B-631BE949D2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10" y="2045834"/>
            <a:ext cx="2724386" cy="31320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3F8EF1-EF09-2077-9594-1DB41F15CF0E}"/>
              </a:ext>
            </a:extLst>
          </p:cNvPr>
          <p:cNvSpPr txBox="1"/>
          <p:nvPr/>
        </p:nvSpPr>
        <p:spPr>
          <a:xfrm>
            <a:off x="105355" y="5526382"/>
            <a:ext cx="427360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1 = </a:t>
            </a:r>
            <a:r>
              <a:rPr lang="it-IT" b="1" dirty="0"/>
              <a:t>OUT (0–10 V o 4–20 </a:t>
            </a:r>
            <a:r>
              <a:rPr lang="it-IT" b="1" dirty="0" err="1"/>
              <a:t>mA</a:t>
            </a:r>
            <a:r>
              <a:rPr lang="it-IT" b="1" dirty="0"/>
              <a:t>)</a:t>
            </a:r>
            <a:r>
              <a:rPr lang="it-IT" dirty="0"/>
              <a:t> → Opta AI</a:t>
            </a:r>
            <a:br>
              <a:rPr lang="it-IT" dirty="0"/>
            </a:br>
            <a:r>
              <a:rPr lang="it-IT" dirty="0"/>
              <a:t>2 = </a:t>
            </a:r>
            <a:r>
              <a:rPr lang="it-IT" b="1" dirty="0"/>
              <a:t>GND</a:t>
            </a:r>
            <a:r>
              <a:rPr lang="it-IT" dirty="0"/>
              <a:t> → Opta GND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23D4B1-E9C8-6101-F5F3-8B36116E0CC1}"/>
              </a:ext>
            </a:extLst>
          </p:cNvPr>
          <p:cNvSpPr/>
          <p:nvPr/>
        </p:nvSpPr>
        <p:spPr>
          <a:xfrm>
            <a:off x="182880" y="3965883"/>
            <a:ext cx="595666" cy="397111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779A17-B477-6599-9F5E-A484D8487E7C}"/>
              </a:ext>
            </a:extLst>
          </p:cNvPr>
          <p:cNvSpPr/>
          <p:nvPr/>
        </p:nvSpPr>
        <p:spPr>
          <a:xfrm>
            <a:off x="157627" y="5529063"/>
            <a:ext cx="218583" cy="605255"/>
          </a:xfrm>
          <a:prstGeom prst="rect">
            <a:avLst/>
          </a:prstGeom>
          <a:noFill/>
          <a:ln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DDCFAE2-5712-5122-B7EF-610F9B5FCE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5350" y="1114343"/>
            <a:ext cx="4747727" cy="2070817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E36EA16-FA43-FC24-15C3-AAD9C2F78EB5}"/>
              </a:ext>
            </a:extLst>
          </p:cNvPr>
          <p:cNvCxnSpPr>
            <a:cxnSpLocks/>
          </p:cNvCxnSpPr>
          <p:nvPr/>
        </p:nvCxnSpPr>
        <p:spPr>
          <a:xfrm flipH="1" flipV="1">
            <a:off x="313509" y="2596896"/>
            <a:ext cx="266482" cy="36053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1CA2A67-8963-BBD4-74F7-267F91DB6CC2}"/>
              </a:ext>
            </a:extLst>
          </p:cNvPr>
          <p:cNvCxnSpPr/>
          <p:nvPr/>
        </p:nvCxnSpPr>
        <p:spPr>
          <a:xfrm>
            <a:off x="642521" y="2700604"/>
            <a:ext cx="459812" cy="203781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755192A-8264-A921-F966-7E418FE68521}"/>
              </a:ext>
            </a:extLst>
          </p:cNvPr>
          <p:cNvCxnSpPr>
            <a:cxnSpLocks/>
          </p:cNvCxnSpPr>
          <p:nvPr/>
        </p:nvCxnSpPr>
        <p:spPr>
          <a:xfrm flipV="1">
            <a:off x="642521" y="2700604"/>
            <a:ext cx="376382" cy="157549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C7EF8721-11D4-FDC9-C8DD-D0061C7ABE34}"/>
              </a:ext>
            </a:extLst>
          </p:cNvPr>
          <p:cNvSpPr/>
          <p:nvPr/>
        </p:nvSpPr>
        <p:spPr>
          <a:xfrm>
            <a:off x="863600" y="3965883"/>
            <a:ext cx="1214120" cy="260677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7B1CDF-EEAC-7448-F588-C63D2ACE3B40}"/>
              </a:ext>
            </a:extLst>
          </p:cNvPr>
          <p:cNvSpPr/>
          <p:nvPr/>
        </p:nvSpPr>
        <p:spPr>
          <a:xfrm>
            <a:off x="3007447" y="2045834"/>
            <a:ext cx="355513" cy="1726122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dirty="0"/>
              <a:t>1</a:t>
            </a:r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915E64-69D4-F168-A40E-E15B0B51A0B6}"/>
              </a:ext>
            </a:extLst>
          </p:cNvPr>
          <p:cNvSpPr/>
          <p:nvPr/>
        </p:nvSpPr>
        <p:spPr>
          <a:xfrm>
            <a:off x="1102333" y="2700604"/>
            <a:ext cx="1584987" cy="313914"/>
          </a:xfrm>
          <a:prstGeom prst="rect">
            <a:avLst/>
          </a:prstGeom>
          <a:noFill/>
          <a:ln>
            <a:solidFill>
              <a:schemeClr val="accent5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097EA8F-B71B-AB66-E763-7B5834B82393}"/>
              </a:ext>
            </a:extLst>
          </p:cNvPr>
          <p:cNvSpPr/>
          <p:nvPr/>
        </p:nvSpPr>
        <p:spPr>
          <a:xfrm>
            <a:off x="4820919" y="4600720"/>
            <a:ext cx="223519" cy="1454639"/>
          </a:xfrm>
          <a:prstGeom prst="rect">
            <a:avLst/>
          </a:prstGeom>
          <a:noFill/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DD7A890-94E4-672D-C34D-FE96793C40C9}"/>
              </a:ext>
            </a:extLst>
          </p:cNvPr>
          <p:cNvSpPr txBox="1"/>
          <p:nvPr/>
        </p:nvSpPr>
        <p:spPr>
          <a:xfrm>
            <a:off x="4780571" y="4260232"/>
            <a:ext cx="610557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dirty="0"/>
              <a:t>OUTPUT</a:t>
            </a:r>
          </a:p>
          <a:p>
            <a:r>
              <a:rPr lang="it-IT" dirty="0"/>
              <a:t>3 = </a:t>
            </a:r>
          </a:p>
          <a:p>
            <a:r>
              <a:rPr lang="it-IT" dirty="0"/>
              <a:t>4 = </a:t>
            </a:r>
          </a:p>
          <a:p>
            <a:r>
              <a:rPr lang="it-IT" dirty="0"/>
              <a:t>5 =</a:t>
            </a:r>
          </a:p>
          <a:p>
            <a:r>
              <a:rPr lang="it-IT" dirty="0"/>
              <a:t>6 =</a:t>
            </a:r>
          </a:p>
          <a:p>
            <a:r>
              <a:rPr lang="it-IT" dirty="0"/>
              <a:t>7 =</a:t>
            </a:r>
          </a:p>
        </p:txBody>
      </p:sp>
    </p:spTree>
    <p:extLst>
      <p:ext uri="{BB962C8B-B14F-4D97-AF65-F5344CB8AC3E}">
        <p14:creationId xmlns:p14="http://schemas.microsoft.com/office/powerpoint/2010/main" val="5616442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413FE-6CB7-27D0-C555-96610C475F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Immagine 2" descr="Immagine che contiene testo, schermata, controllo&#10;&#10;Il contenuto generato dall&amp;#39;IA potrebbe non essere corretto.">
            <a:extLst>
              <a:ext uri="{FF2B5EF4-FFF2-40B4-BE49-F238E27FC236}">
                <a16:creationId xmlns:a16="http://schemas.microsoft.com/office/drawing/2014/main" id="{20FD2426-760A-90C7-BD5A-AF241B88D3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333" y="1771403"/>
            <a:ext cx="7202424" cy="4057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11718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F4382F-4DA1-5422-08FD-E1F9E9989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E8B71B18-9072-BEA7-D270-FCBD01A88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514172"/>
            <a:ext cx="10515600" cy="1325563"/>
          </a:xfrm>
        </p:spPr>
        <p:txBody>
          <a:bodyPr>
            <a:normAutofit/>
          </a:bodyPr>
          <a:lstStyle/>
          <a:p>
            <a:r>
              <a:rPr lang="en-US" sz="4000" noProof="0" dirty="0"/>
              <a:t>Thank you for your attention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DCA5569-0BD2-4EA7-4975-D3129B6312E0}"/>
              </a:ext>
            </a:extLst>
          </p:cNvPr>
          <p:cNvSpPr/>
          <p:nvPr/>
        </p:nvSpPr>
        <p:spPr>
          <a:xfrm>
            <a:off x="4371833" y="6250675"/>
            <a:ext cx="3457433" cy="564107"/>
          </a:xfrm>
          <a:prstGeom prst="rect">
            <a:avLst/>
          </a:prstGeom>
          <a:solidFill>
            <a:srgbClr val="213652"/>
          </a:solidFill>
          <a:ln>
            <a:solidFill>
              <a:srgbClr val="2136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159805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</Words>
  <Application>Microsoft Office PowerPoint</Application>
  <PresentationFormat>Widescreen</PresentationFormat>
  <Paragraphs>36</Paragraphs>
  <Slides>6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Book Antiqua</vt:lpstr>
      <vt:lpstr>Titillium Web</vt:lpstr>
      <vt:lpstr>Wingdings</vt:lpstr>
      <vt:lpstr>Office Theme</vt:lpstr>
      <vt:lpstr>Progetto SOSTA (System for Observation, Storage and Testing Analysis) </vt:lpstr>
      <vt:lpstr>Architecture solution</vt:lpstr>
      <vt:lpstr>MVD2555</vt:lpstr>
      <vt:lpstr>MVD   OPTA</vt:lpstr>
      <vt:lpstr>PowerPoint Presentation</vt:lpstr>
      <vt:lpstr>Thank you for your attention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Alessandro Conte</dc:creator>
  <cp:lastModifiedBy>Alessandro Conte</cp:lastModifiedBy>
  <cp:revision>126</cp:revision>
  <dcterms:created xsi:type="dcterms:W3CDTF">2025-04-28T07:23:57Z</dcterms:created>
  <dcterms:modified xsi:type="dcterms:W3CDTF">2025-10-27T13:20:18Z</dcterms:modified>
</cp:coreProperties>
</file>