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57" r:id="rId4"/>
    <p:sldId id="256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980" autoAdjust="0"/>
  </p:normalViewPr>
  <p:slideViewPr>
    <p:cSldViewPr snapToGrid="0">
      <p:cViewPr varScale="1">
        <p:scale>
          <a:sx n="84" d="100"/>
          <a:sy n="84" d="100"/>
        </p:scale>
        <p:origin x="643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ess\Downloads\cadute_summary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'caduta_-1'!$C$2:$C$158</c:f>
              <c:numCache>
                <c:formatCode>General</c:formatCode>
                <c:ptCount val="157"/>
                <c:pt idx="0">
                  <c:v>13</c:v>
                </c:pt>
                <c:pt idx="1">
                  <c:v>30</c:v>
                </c:pt>
                <c:pt idx="2">
                  <c:v>46</c:v>
                </c:pt>
                <c:pt idx="3">
                  <c:v>63</c:v>
                </c:pt>
                <c:pt idx="4">
                  <c:v>112</c:v>
                </c:pt>
                <c:pt idx="5">
                  <c:v>210</c:v>
                </c:pt>
                <c:pt idx="6">
                  <c:v>312</c:v>
                </c:pt>
                <c:pt idx="7">
                  <c:v>410</c:v>
                </c:pt>
                <c:pt idx="8">
                  <c:v>513</c:v>
                </c:pt>
                <c:pt idx="9">
                  <c:v>615</c:v>
                </c:pt>
                <c:pt idx="10">
                  <c:v>714</c:v>
                </c:pt>
                <c:pt idx="11">
                  <c:v>816</c:v>
                </c:pt>
                <c:pt idx="12">
                  <c:v>914</c:v>
                </c:pt>
                <c:pt idx="13">
                  <c:v>1016</c:v>
                </c:pt>
                <c:pt idx="14">
                  <c:v>1114</c:v>
                </c:pt>
                <c:pt idx="15">
                  <c:v>1217</c:v>
                </c:pt>
                <c:pt idx="16">
                  <c:v>1315</c:v>
                </c:pt>
                <c:pt idx="17">
                  <c:v>1418</c:v>
                </c:pt>
                <c:pt idx="18">
                  <c:v>1516</c:v>
                </c:pt>
                <c:pt idx="19">
                  <c:v>1619</c:v>
                </c:pt>
                <c:pt idx="20">
                  <c:v>1717</c:v>
                </c:pt>
                <c:pt idx="21">
                  <c:v>1819</c:v>
                </c:pt>
                <c:pt idx="22">
                  <c:v>1918</c:v>
                </c:pt>
                <c:pt idx="23">
                  <c:v>2020</c:v>
                </c:pt>
                <c:pt idx="24">
                  <c:v>2118</c:v>
                </c:pt>
                <c:pt idx="25">
                  <c:v>2221</c:v>
                </c:pt>
                <c:pt idx="26">
                  <c:v>2319</c:v>
                </c:pt>
                <c:pt idx="27">
                  <c:v>2422</c:v>
                </c:pt>
                <c:pt idx="28">
                  <c:v>2520</c:v>
                </c:pt>
                <c:pt idx="29">
                  <c:v>2622</c:v>
                </c:pt>
                <c:pt idx="30">
                  <c:v>2721</c:v>
                </c:pt>
                <c:pt idx="31">
                  <c:v>2823</c:v>
                </c:pt>
                <c:pt idx="32">
                  <c:v>2921</c:v>
                </c:pt>
                <c:pt idx="33">
                  <c:v>3023</c:v>
                </c:pt>
                <c:pt idx="34">
                  <c:v>3125</c:v>
                </c:pt>
                <c:pt idx="35">
                  <c:v>3224</c:v>
                </c:pt>
                <c:pt idx="36">
                  <c:v>3326</c:v>
                </c:pt>
                <c:pt idx="37">
                  <c:v>3425</c:v>
                </c:pt>
                <c:pt idx="38">
                  <c:v>3527</c:v>
                </c:pt>
                <c:pt idx="39">
                  <c:v>3625</c:v>
                </c:pt>
                <c:pt idx="40">
                  <c:v>3728</c:v>
                </c:pt>
                <c:pt idx="41">
                  <c:v>3826</c:v>
                </c:pt>
                <c:pt idx="42">
                  <c:v>3928</c:v>
                </c:pt>
                <c:pt idx="43">
                  <c:v>4027</c:v>
                </c:pt>
                <c:pt idx="44">
                  <c:v>4129</c:v>
                </c:pt>
                <c:pt idx="45">
                  <c:v>4228</c:v>
                </c:pt>
                <c:pt idx="46">
                  <c:v>4330</c:v>
                </c:pt>
                <c:pt idx="47">
                  <c:v>4429</c:v>
                </c:pt>
                <c:pt idx="48">
                  <c:v>4531</c:v>
                </c:pt>
                <c:pt idx="49">
                  <c:v>4629</c:v>
                </c:pt>
                <c:pt idx="50">
                  <c:v>4732</c:v>
                </c:pt>
                <c:pt idx="51">
                  <c:v>4830</c:v>
                </c:pt>
                <c:pt idx="52">
                  <c:v>4932</c:v>
                </c:pt>
                <c:pt idx="53">
                  <c:v>5031</c:v>
                </c:pt>
                <c:pt idx="54">
                  <c:v>5133</c:v>
                </c:pt>
                <c:pt idx="55">
                  <c:v>5231</c:v>
                </c:pt>
                <c:pt idx="56">
                  <c:v>5334</c:v>
                </c:pt>
                <c:pt idx="57">
                  <c:v>5432</c:v>
                </c:pt>
                <c:pt idx="58">
                  <c:v>5534</c:v>
                </c:pt>
                <c:pt idx="59">
                  <c:v>5637</c:v>
                </c:pt>
                <c:pt idx="60">
                  <c:v>5734</c:v>
                </c:pt>
                <c:pt idx="61">
                  <c:v>5837</c:v>
                </c:pt>
                <c:pt idx="62">
                  <c:v>5935</c:v>
                </c:pt>
                <c:pt idx="63">
                  <c:v>6038</c:v>
                </c:pt>
                <c:pt idx="64">
                  <c:v>6137</c:v>
                </c:pt>
                <c:pt idx="65">
                  <c:v>6239</c:v>
                </c:pt>
                <c:pt idx="66">
                  <c:v>6337</c:v>
                </c:pt>
                <c:pt idx="67">
                  <c:v>6439</c:v>
                </c:pt>
                <c:pt idx="68">
                  <c:v>6538</c:v>
                </c:pt>
                <c:pt idx="69">
                  <c:v>6640</c:v>
                </c:pt>
                <c:pt idx="70">
                  <c:v>6738</c:v>
                </c:pt>
                <c:pt idx="71">
                  <c:v>6840</c:v>
                </c:pt>
                <c:pt idx="72">
                  <c:v>6939</c:v>
                </c:pt>
                <c:pt idx="73">
                  <c:v>7041</c:v>
                </c:pt>
                <c:pt idx="74">
                  <c:v>7140</c:v>
                </c:pt>
                <c:pt idx="75">
                  <c:v>7242</c:v>
                </c:pt>
                <c:pt idx="76">
                  <c:v>7340</c:v>
                </c:pt>
                <c:pt idx="77">
                  <c:v>7443</c:v>
                </c:pt>
                <c:pt idx="78">
                  <c:v>7541</c:v>
                </c:pt>
                <c:pt idx="79">
                  <c:v>7644</c:v>
                </c:pt>
                <c:pt idx="80">
                  <c:v>7741</c:v>
                </c:pt>
                <c:pt idx="81">
                  <c:v>7844</c:v>
                </c:pt>
                <c:pt idx="82">
                  <c:v>7942</c:v>
                </c:pt>
                <c:pt idx="83">
                  <c:v>8044</c:v>
                </c:pt>
                <c:pt idx="84">
                  <c:v>8144</c:v>
                </c:pt>
                <c:pt idx="85">
                  <c:v>8246</c:v>
                </c:pt>
                <c:pt idx="86">
                  <c:v>8344</c:v>
                </c:pt>
                <c:pt idx="87">
                  <c:v>8447</c:v>
                </c:pt>
                <c:pt idx="88">
                  <c:v>8545</c:v>
                </c:pt>
                <c:pt idx="89">
                  <c:v>8647</c:v>
                </c:pt>
                <c:pt idx="90">
                  <c:v>8746</c:v>
                </c:pt>
                <c:pt idx="91">
                  <c:v>8848</c:v>
                </c:pt>
                <c:pt idx="92">
                  <c:v>8945</c:v>
                </c:pt>
                <c:pt idx="93">
                  <c:v>9048</c:v>
                </c:pt>
                <c:pt idx="94">
                  <c:v>9151</c:v>
                </c:pt>
                <c:pt idx="95">
                  <c:v>9249</c:v>
                </c:pt>
                <c:pt idx="96">
                  <c:v>9351</c:v>
                </c:pt>
                <c:pt idx="97">
                  <c:v>9449</c:v>
                </c:pt>
                <c:pt idx="98">
                  <c:v>9552</c:v>
                </c:pt>
                <c:pt idx="99">
                  <c:v>9650</c:v>
                </c:pt>
                <c:pt idx="100">
                  <c:v>9752</c:v>
                </c:pt>
                <c:pt idx="101">
                  <c:v>9851</c:v>
                </c:pt>
                <c:pt idx="102">
                  <c:v>9953</c:v>
                </c:pt>
                <c:pt idx="103">
                  <c:v>10051</c:v>
                </c:pt>
                <c:pt idx="104">
                  <c:v>10154</c:v>
                </c:pt>
                <c:pt idx="105">
                  <c:v>10252</c:v>
                </c:pt>
                <c:pt idx="106">
                  <c:v>10355</c:v>
                </c:pt>
                <c:pt idx="107">
                  <c:v>10454</c:v>
                </c:pt>
                <c:pt idx="108">
                  <c:v>10556</c:v>
                </c:pt>
                <c:pt idx="109">
                  <c:v>10654</c:v>
                </c:pt>
                <c:pt idx="110">
                  <c:v>10757</c:v>
                </c:pt>
                <c:pt idx="111">
                  <c:v>10855</c:v>
                </c:pt>
                <c:pt idx="112">
                  <c:v>10957</c:v>
                </c:pt>
                <c:pt idx="113">
                  <c:v>11056</c:v>
                </c:pt>
                <c:pt idx="114">
                  <c:v>11158</c:v>
                </c:pt>
                <c:pt idx="115">
                  <c:v>11256</c:v>
                </c:pt>
                <c:pt idx="116">
                  <c:v>11359</c:v>
                </c:pt>
                <c:pt idx="117">
                  <c:v>11457</c:v>
                </c:pt>
                <c:pt idx="118">
                  <c:v>11559</c:v>
                </c:pt>
                <c:pt idx="119">
                  <c:v>11658</c:v>
                </c:pt>
                <c:pt idx="120">
                  <c:v>11760</c:v>
                </c:pt>
                <c:pt idx="121">
                  <c:v>11858</c:v>
                </c:pt>
                <c:pt idx="122">
                  <c:v>11961</c:v>
                </c:pt>
                <c:pt idx="123">
                  <c:v>12059</c:v>
                </c:pt>
                <c:pt idx="124">
                  <c:v>12161</c:v>
                </c:pt>
                <c:pt idx="125">
                  <c:v>12260</c:v>
                </c:pt>
                <c:pt idx="126">
                  <c:v>12362</c:v>
                </c:pt>
                <c:pt idx="127">
                  <c:v>12460</c:v>
                </c:pt>
                <c:pt idx="128">
                  <c:v>12563</c:v>
                </c:pt>
                <c:pt idx="129">
                  <c:v>12661</c:v>
                </c:pt>
                <c:pt idx="130">
                  <c:v>12763</c:v>
                </c:pt>
                <c:pt idx="131">
                  <c:v>12862</c:v>
                </c:pt>
                <c:pt idx="132">
                  <c:v>12964</c:v>
                </c:pt>
                <c:pt idx="133">
                  <c:v>13062</c:v>
                </c:pt>
                <c:pt idx="134">
                  <c:v>13165</c:v>
                </c:pt>
                <c:pt idx="135">
                  <c:v>13267</c:v>
                </c:pt>
                <c:pt idx="136">
                  <c:v>13365</c:v>
                </c:pt>
                <c:pt idx="137">
                  <c:v>13468</c:v>
                </c:pt>
                <c:pt idx="138">
                  <c:v>13566</c:v>
                </c:pt>
                <c:pt idx="139">
                  <c:v>13668</c:v>
                </c:pt>
                <c:pt idx="140">
                  <c:v>13766</c:v>
                </c:pt>
                <c:pt idx="141">
                  <c:v>13869</c:v>
                </c:pt>
                <c:pt idx="142">
                  <c:v>13967</c:v>
                </c:pt>
                <c:pt idx="143">
                  <c:v>14070</c:v>
                </c:pt>
                <c:pt idx="144">
                  <c:v>14168</c:v>
                </c:pt>
                <c:pt idx="145">
                  <c:v>14270</c:v>
                </c:pt>
                <c:pt idx="146">
                  <c:v>14369</c:v>
                </c:pt>
                <c:pt idx="147">
                  <c:v>14471</c:v>
                </c:pt>
                <c:pt idx="148">
                  <c:v>14569</c:v>
                </c:pt>
                <c:pt idx="149">
                  <c:v>14672</c:v>
                </c:pt>
                <c:pt idx="150">
                  <c:v>14770</c:v>
                </c:pt>
                <c:pt idx="151">
                  <c:v>14872</c:v>
                </c:pt>
                <c:pt idx="152">
                  <c:v>14971</c:v>
                </c:pt>
                <c:pt idx="153">
                  <c:v>15073</c:v>
                </c:pt>
                <c:pt idx="154">
                  <c:v>15172</c:v>
                </c:pt>
                <c:pt idx="155">
                  <c:v>15274</c:v>
                </c:pt>
                <c:pt idx="156">
                  <c:v>15372</c:v>
                </c:pt>
              </c:numCache>
            </c:numRef>
          </c:xVal>
          <c:yVal>
            <c:numRef>
              <c:f>'caduta_-1'!$D$2:$D$158</c:f>
              <c:numCache>
                <c:formatCode>General</c:formatCode>
                <c:ptCount val="15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390</c:v>
                </c:pt>
                <c:pt idx="6">
                  <c:v>780</c:v>
                </c:pt>
                <c:pt idx="7">
                  <c:v>1150</c:v>
                </c:pt>
                <c:pt idx="8">
                  <c:v>1520</c:v>
                </c:pt>
                <c:pt idx="9">
                  <c:v>1870</c:v>
                </c:pt>
                <c:pt idx="10">
                  <c:v>2220</c:v>
                </c:pt>
                <c:pt idx="11">
                  <c:v>2550</c:v>
                </c:pt>
                <c:pt idx="12">
                  <c:v>2880</c:v>
                </c:pt>
                <c:pt idx="13">
                  <c:v>3190</c:v>
                </c:pt>
                <c:pt idx="14">
                  <c:v>3500</c:v>
                </c:pt>
                <c:pt idx="15">
                  <c:v>3790</c:v>
                </c:pt>
                <c:pt idx="16">
                  <c:v>4080</c:v>
                </c:pt>
                <c:pt idx="17">
                  <c:v>4350</c:v>
                </c:pt>
                <c:pt idx="18">
                  <c:v>4620</c:v>
                </c:pt>
                <c:pt idx="19">
                  <c:v>4870</c:v>
                </c:pt>
                <c:pt idx="20">
                  <c:v>5120</c:v>
                </c:pt>
                <c:pt idx="21">
                  <c:v>5350</c:v>
                </c:pt>
                <c:pt idx="22">
                  <c:v>5580</c:v>
                </c:pt>
                <c:pt idx="23">
                  <c:v>5790</c:v>
                </c:pt>
                <c:pt idx="24">
                  <c:v>6000</c:v>
                </c:pt>
                <c:pt idx="25">
                  <c:v>6190</c:v>
                </c:pt>
                <c:pt idx="26">
                  <c:v>6380</c:v>
                </c:pt>
                <c:pt idx="27">
                  <c:v>6550</c:v>
                </c:pt>
                <c:pt idx="28">
                  <c:v>6720</c:v>
                </c:pt>
                <c:pt idx="29">
                  <c:v>6870</c:v>
                </c:pt>
                <c:pt idx="30">
                  <c:v>7020</c:v>
                </c:pt>
                <c:pt idx="31">
                  <c:v>7150</c:v>
                </c:pt>
                <c:pt idx="32">
                  <c:v>7280</c:v>
                </c:pt>
                <c:pt idx="33">
                  <c:v>7390</c:v>
                </c:pt>
                <c:pt idx="34">
                  <c:v>7500</c:v>
                </c:pt>
                <c:pt idx="35">
                  <c:v>7590</c:v>
                </c:pt>
                <c:pt idx="36">
                  <c:v>7680</c:v>
                </c:pt>
                <c:pt idx="37">
                  <c:v>7750</c:v>
                </c:pt>
                <c:pt idx="38">
                  <c:v>7820</c:v>
                </c:pt>
                <c:pt idx="39">
                  <c:v>7870</c:v>
                </c:pt>
                <c:pt idx="40">
                  <c:v>7920</c:v>
                </c:pt>
                <c:pt idx="41">
                  <c:v>7950</c:v>
                </c:pt>
                <c:pt idx="42">
                  <c:v>7980</c:v>
                </c:pt>
                <c:pt idx="43">
                  <c:v>7990</c:v>
                </c:pt>
                <c:pt idx="44">
                  <c:v>8000</c:v>
                </c:pt>
                <c:pt idx="45">
                  <c:v>7990</c:v>
                </c:pt>
                <c:pt idx="46">
                  <c:v>7980</c:v>
                </c:pt>
                <c:pt idx="47">
                  <c:v>7950</c:v>
                </c:pt>
                <c:pt idx="48">
                  <c:v>7920</c:v>
                </c:pt>
                <c:pt idx="49">
                  <c:v>7870</c:v>
                </c:pt>
                <c:pt idx="50">
                  <c:v>7820</c:v>
                </c:pt>
                <c:pt idx="51">
                  <c:v>7750</c:v>
                </c:pt>
                <c:pt idx="52">
                  <c:v>7680</c:v>
                </c:pt>
                <c:pt idx="53">
                  <c:v>7590</c:v>
                </c:pt>
                <c:pt idx="54">
                  <c:v>7500</c:v>
                </c:pt>
                <c:pt idx="55">
                  <c:v>7390</c:v>
                </c:pt>
                <c:pt idx="56">
                  <c:v>7280</c:v>
                </c:pt>
                <c:pt idx="57">
                  <c:v>7150</c:v>
                </c:pt>
                <c:pt idx="58">
                  <c:v>7020</c:v>
                </c:pt>
                <c:pt idx="59">
                  <c:v>6870</c:v>
                </c:pt>
                <c:pt idx="60">
                  <c:v>6720</c:v>
                </c:pt>
                <c:pt idx="61">
                  <c:v>6550</c:v>
                </c:pt>
                <c:pt idx="62">
                  <c:v>6380</c:v>
                </c:pt>
                <c:pt idx="63">
                  <c:v>6190</c:v>
                </c:pt>
                <c:pt idx="64">
                  <c:v>6000</c:v>
                </c:pt>
                <c:pt idx="65">
                  <c:v>5790</c:v>
                </c:pt>
                <c:pt idx="66">
                  <c:v>5580</c:v>
                </c:pt>
                <c:pt idx="67">
                  <c:v>5350</c:v>
                </c:pt>
                <c:pt idx="68">
                  <c:v>5120</c:v>
                </c:pt>
                <c:pt idx="69">
                  <c:v>5120</c:v>
                </c:pt>
                <c:pt idx="70">
                  <c:v>5120</c:v>
                </c:pt>
                <c:pt idx="71">
                  <c:v>5120</c:v>
                </c:pt>
                <c:pt idx="72">
                  <c:v>5120</c:v>
                </c:pt>
                <c:pt idx="73">
                  <c:v>5120</c:v>
                </c:pt>
                <c:pt idx="74">
                  <c:v>5120</c:v>
                </c:pt>
                <c:pt idx="75">
                  <c:v>5120</c:v>
                </c:pt>
                <c:pt idx="76">
                  <c:v>5120</c:v>
                </c:pt>
                <c:pt idx="77">
                  <c:v>5120</c:v>
                </c:pt>
                <c:pt idx="78">
                  <c:v>5120</c:v>
                </c:pt>
                <c:pt idx="79">
                  <c:v>5120</c:v>
                </c:pt>
                <c:pt idx="80">
                  <c:v>5120</c:v>
                </c:pt>
                <c:pt idx="81">
                  <c:v>5120</c:v>
                </c:pt>
                <c:pt idx="82">
                  <c:v>5120</c:v>
                </c:pt>
                <c:pt idx="83">
                  <c:v>5120</c:v>
                </c:pt>
                <c:pt idx="84">
                  <c:v>5120</c:v>
                </c:pt>
                <c:pt idx="85">
                  <c:v>5120</c:v>
                </c:pt>
                <c:pt idx="86">
                  <c:v>5120</c:v>
                </c:pt>
                <c:pt idx="87">
                  <c:v>5120</c:v>
                </c:pt>
                <c:pt idx="88">
                  <c:v>5120</c:v>
                </c:pt>
                <c:pt idx="89">
                  <c:v>5120</c:v>
                </c:pt>
                <c:pt idx="90">
                  <c:v>5120</c:v>
                </c:pt>
                <c:pt idx="91">
                  <c:v>5120</c:v>
                </c:pt>
                <c:pt idx="92">
                  <c:v>5120</c:v>
                </c:pt>
                <c:pt idx="93">
                  <c:v>5120</c:v>
                </c:pt>
                <c:pt idx="94">
                  <c:v>5120</c:v>
                </c:pt>
                <c:pt idx="95">
                  <c:v>5120</c:v>
                </c:pt>
                <c:pt idx="96">
                  <c:v>5120</c:v>
                </c:pt>
                <c:pt idx="97">
                  <c:v>5120</c:v>
                </c:pt>
                <c:pt idx="98">
                  <c:v>5120</c:v>
                </c:pt>
                <c:pt idx="99">
                  <c:v>5120</c:v>
                </c:pt>
                <c:pt idx="100">
                  <c:v>5120</c:v>
                </c:pt>
                <c:pt idx="101">
                  <c:v>5120</c:v>
                </c:pt>
                <c:pt idx="102">
                  <c:v>5120</c:v>
                </c:pt>
                <c:pt idx="103">
                  <c:v>5120</c:v>
                </c:pt>
                <c:pt idx="104">
                  <c:v>5120</c:v>
                </c:pt>
                <c:pt idx="105">
                  <c:v>5120</c:v>
                </c:pt>
                <c:pt idx="106">
                  <c:v>5120</c:v>
                </c:pt>
                <c:pt idx="107">
                  <c:v>5120</c:v>
                </c:pt>
                <c:pt idx="108">
                  <c:v>5120</c:v>
                </c:pt>
                <c:pt idx="109">
                  <c:v>5120</c:v>
                </c:pt>
                <c:pt idx="110">
                  <c:v>5120</c:v>
                </c:pt>
                <c:pt idx="111">
                  <c:v>5120</c:v>
                </c:pt>
                <c:pt idx="112">
                  <c:v>5120</c:v>
                </c:pt>
                <c:pt idx="113">
                  <c:v>5120</c:v>
                </c:pt>
                <c:pt idx="114">
                  <c:v>5120</c:v>
                </c:pt>
                <c:pt idx="115">
                  <c:v>5120</c:v>
                </c:pt>
                <c:pt idx="116">
                  <c:v>5120</c:v>
                </c:pt>
                <c:pt idx="117">
                  <c:v>5120</c:v>
                </c:pt>
                <c:pt idx="118">
                  <c:v>5120</c:v>
                </c:pt>
                <c:pt idx="119">
                  <c:v>5120</c:v>
                </c:pt>
                <c:pt idx="120">
                  <c:v>5120</c:v>
                </c:pt>
                <c:pt idx="121">
                  <c:v>5120</c:v>
                </c:pt>
                <c:pt idx="122">
                  <c:v>5120</c:v>
                </c:pt>
                <c:pt idx="123">
                  <c:v>5120</c:v>
                </c:pt>
                <c:pt idx="124">
                  <c:v>5120</c:v>
                </c:pt>
                <c:pt idx="125">
                  <c:v>5120</c:v>
                </c:pt>
                <c:pt idx="126">
                  <c:v>5120</c:v>
                </c:pt>
                <c:pt idx="127">
                  <c:v>5120</c:v>
                </c:pt>
                <c:pt idx="128">
                  <c:v>5120</c:v>
                </c:pt>
                <c:pt idx="129">
                  <c:v>5120</c:v>
                </c:pt>
                <c:pt idx="130">
                  <c:v>5120</c:v>
                </c:pt>
                <c:pt idx="131">
                  <c:v>5120</c:v>
                </c:pt>
                <c:pt idx="132">
                  <c:v>5120</c:v>
                </c:pt>
                <c:pt idx="133">
                  <c:v>5120</c:v>
                </c:pt>
                <c:pt idx="134">
                  <c:v>5120</c:v>
                </c:pt>
                <c:pt idx="135">
                  <c:v>5120</c:v>
                </c:pt>
                <c:pt idx="136">
                  <c:v>5120</c:v>
                </c:pt>
                <c:pt idx="137">
                  <c:v>5120</c:v>
                </c:pt>
                <c:pt idx="138">
                  <c:v>5120</c:v>
                </c:pt>
                <c:pt idx="139">
                  <c:v>5120</c:v>
                </c:pt>
                <c:pt idx="140">
                  <c:v>5120</c:v>
                </c:pt>
                <c:pt idx="141">
                  <c:v>5120</c:v>
                </c:pt>
                <c:pt idx="142">
                  <c:v>5120</c:v>
                </c:pt>
                <c:pt idx="143">
                  <c:v>5120</c:v>
                </c:pt>
                <c:pt idx="144">
                  <c:v>5120</c:v>
                </c:pt>
                <c:pt idx="145">
                  <c:v>5120</c:v>
                </c:pt>
                <c:pt idx="146">
                  <c:v>5120</c:v>
                </c:pt>
                <c:pt idx="147">
                  <c:v>5120</c:v>
                </c:pt>
                <c:pt idx="148">
                  <c:v>5120</c:v>
                </c:pt>
                <c:pt idx="149">
                  <c:v>5120</c:v>
                </c:pt>
                <c:pt idx="150">
                  <c:v>5120</c:v>
                </c:pt>
                <c:pt idx="151">
                  <c:v>5120</c:v>
                </c:pt>
                <c:pt idx="152">
                  <c:v>5120</c:v>
                </c:pt>
                <c:pt idx="153">
                  <c:v>5120</c:v>
                </c:pt>
                <c:pt idx="154">
                  <c:v>5120</c:v>
                </c:pt>
                <c:pt idx="155">
                  <c:v>5120</c:v>
                </c:pt>
                <c:pt idx="156">
                  <c:v>5120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41-413B-A942-411E1CBE0C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4365263"/>
        <c:axId val="124360943"/>
      </c:scatterChart>
      <c:valAx>
        <c:axId val="1243652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360943"/>
        <c:crosses val="autoZero"/>
        <c:crossBetween val="midCat"/>
      </c:valAx>
      <c:valAx>
        <c:axId val="124360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3652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EDD23-415A-4BA7-B8FE-312E5225F055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CF0B1-300B-4D8A-9DB0-C10B9E8EA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0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F84CB-69DD-5572-33C3-FD5828EFB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FF0DB-5CF3-4AEF-E0D3-62C2FD5C9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1A137-B1EB-192D-3022-9CCD871B7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F53F6-EB12-87CC-C40D-93FB444EB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24811-FF1B-B254-D46F-7C7983BF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37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B94D-C210-5391-FBBD-BE0E2E652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D97B-0B1C-128A-E94C-D6572708D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26946-D273-AE1F-C690-7A571E3E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C68C1-F212-C5CA-DF79-0C8DA619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D6B3E-AEAA-4371-FC8D-73E93B17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7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73355-A876-1EDD-A65A-0D95758D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C07D4-54D7-0F58-F7AF-6AB4AEF62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7B2E5-406B-7D41-D66F-2C7DB682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5A774-565F-29F1-7CA7-5518E529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949B5-BE88-3A75-0FCF-295EEE89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9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7CDA-0D83-AA1B-B3F4-6142466B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D88FC-D8C2-22BD-65A3-6A42C38DE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84490-2495-784B-60A4-4DFD5883B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74DA2-BE4A-6589-C5B2-EEEC93F3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85CC4-D047-92AC-FEBC-B6596C4AE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64B1E-529F-EE65-E193-36C8E6FC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5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2694-CBAB-2B88-3AB6-DD136169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CEA50-6D14-43B9-7020-B94612EF9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B8D1B-CCB0-DBC3-0A36-5A08085E0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D659F-F172-DF28-EF1A-7CDB05047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76E8C-809C-026B-FD90-4EB499961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02D41-6E7A-A439-ED0A-BBE11728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B0E83-DA51-1BE0-6270-B08019DF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CD591-8C85-17B2-DB17-48D5C820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27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E307-70C7-8019-3F96-BAF887C6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6AC77-0726-E9B0-59A4-F0C27FE6A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792CC-44FA-B3D3-7547-CEB6FA9D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FA0C8-36A6-9D9C-8AFF-4840E68E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01643-880A-51A6-56B3-2D9AC80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90C0D-4496-A5A5-0BF1-3E249ECEA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64CA7-E3F0-D790-2579-BB4BA463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97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253BF-9520-0A97-B468-EA7AE6DB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B4D7B-2A34-0AD0-C0D1-26459205D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7F7D2-80D4-0DBF-B826-04F702D59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4E557-3E4B-F449-D2A3-0832E820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46E55-9AA5-C7A3-45DE-FDB9AFA69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4041F-5D02-6EF4-634E-636FE15D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97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0159-261E-70E9-E5D3-4FF6A685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9FA7D-921A-1DA2-431B-21E4C4C81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92D6D-C542-4190-4C2B-D8A06B2A9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565F9-5740-9E9F-877A-FE274EAF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88AE0-517C-8B84-758C-158A4269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1315F-765F-A806-40A9-A2E610CB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5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9A964-3B9F-4D0F-81CC-E2086B54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8C5E8-ACCE-E5D4-E525-7F52E33D8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6123E-4CC6-9551-E63E-AAB283CD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455D8-03C0-04F4-4E1B-D7705C91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20DBA-6DFF-C859-04AB-F589B424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6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711E1-31C9-8042-FD05-7A728712B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5E070-CB8E-1D73-FC07-A9A0A06CA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7CB33-B4A5-957A-6C0D-8E53BC64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0E2A0-7E9C-E8DF-B2BB-B603B9948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D6C36-8913-C285-0E58-AC74DB3F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9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3083F-4658-AD05-7283-B9D2A71B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50947-9C5A-E0A6-95B3-ECF25B33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2550A-2EFA-5978-ECDB-81FDC1DBF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A8262-2823-476E-9695-B821F4EE202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57CD5-8BC7-3448-3A89-3158D60AA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6C9AB-B950-6357-1766-6AB31A0EE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8842E-B925-487E-ACBF-FA77ADCC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1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hyperlink" Target="http://localhost:5173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C7B7F3-88ED-ABD1-7A65-0D61B0F95C31}"/>
              </a:ext>
            </a:extLst>
          </p:cNvPr>
          <p:cNvSpPr txBox="1"/>
          <p:nvPr/>
        </p:nvSpPr>
        <p:spPr>
          <a:xfrm>
            <a:off x="333828" y="370272"/>
            <a:ext cx="117468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1. Installa Arduino IDE (se non ce l'hai già)</a:t>
            </a:r>
          </a:p>
          <a:p>
            <a:pPr>
              <a:buNone/>
            </a:pPr>
            <a:r>
              <a:rPr lang="it-IT" dirty="0"/>
              <a:t>Vai su </a:t>
            </a:r>
            <a:r>
              <a:rPr lang="it-IT" dirty="0">
                <a:latin typeface="Courier New" panose="02070309020205020404" pitchFamily="49" charset="0"/>
              </a:rPr>
              <a:t>https://www.arduino.cc/en/software</a:t>
            </a:r>
            <a:r>
              <a:rPr lang="it-IT" dirty="0"/>
              <a:t>, scarica la versione per il tuo sistema operativo. </a:t>
            </a:r>
            <a:br>
              <a:rPr lang="it-IT" dirty="0"/>
            </a:br>
            <a:r>
              <a:rPr lang="it-IT" b="1" dirty="0"/>
              <a:t>2. Verifica che il PC veda l'Arduino</a:t>
            </a:r>
          </a:p>
          <a:p>
            <a:pPr>
              <a:buNone/>
            </a:pPr>
            <a:r>
              <a:rPr lang="it-IT" dirty="0"/>
              <a:t>Apri Arduino IDE. In alto, c'è un menù </a:t>
            </a:r>
            <a:r>
              <a:rPr lang="it-IT" b="1" dirty="0"/>
              <a:t>Strumenti → Porta</a:t>
            </a:r>
            <a:r>
              <a:rPr lang="it-IT" dirty="0"/>
              <a:t> (Tools → Port).</a:t>
            </a:r>
          </a:p>
          <a:p>
            <a:pPr>
              <a:buNone/>
            </a:pPr>
            <a:r>
              <a:rPr lang="it-IT" dirty="0"/>
              <a:t>Quello che dovresti vedere dipende dal sistema: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Windows</a:t>
            </a:r>
            <a:r>
              <a:rPr lang="it-IT" dirty="0"/>
              <a:t>: una voce tipo </a:t>
            </a:r>
            <a:r>
              <a:rPr lang="it-IT" dirty="0">
                <a:latin typeface="Courier New" panose="02070309020205020404" pitchFamily="49" charset="0"/>
              </a:rPr>
              <a:t>COM3</a:t>
            </a:r>
            <a:r>
              <a:rPr lang="it-IT" dirty="0"/>
              <a:t> con scritto accanto "Arduino Uno".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/>
              <a:t>Mac</a:t>
            </a:r>
            <a:r>
              <a:rPr lang="it-IT" dirty="0"/>
              <a:t>: una voce tipo </a:t>
            </a:r>
            <a:r>
              <a:rPr lang="it-IT" dirty="0">
                <a:latin typeface="Courier New" panose="02070309020205020404" pitchFamily="49" charset="0"/>
              </a:rPr>
              <a:t>/</a:t>
            </a:r>
            <a:r>
              <a:rPr lang="it-IT" dirty="0" err="1">
                <a:latin typeface="Courier New" panose="02070309020205020404" pitchFamily="49" charset="0"/>
              </a:rPr>
              <a:t>dev</a:t>
            </a:r>
            <a:r>
              <a:rPr lang="it-IT" dirty="0">
                <a:latin typeface="Courier New" panose="02070309020205020404" pitchFamily="49" charset="0"/>
              </a:rPr>
              <a:t>/cu.usbmodem1411</a:t>
            </a:r>
            <a:r>
              <a:rPr lang="it-IT" dirty="0"/>
              <a:t> o simile.</a:t>
            </a:r>
          </a:p>
          <a:p>
            <a:pPr>
              <a:buNone/>
            </a:pPr>
            <a:r>
              <a:rPr lang="it-IT" dirty="0"/>
              <a:t>Selezionala. Poi in </a:t>
            </a:r>
            <a:r>
              <a:rPr lang="it-IT" b="1" dirty="0"/>
              <a:t>Strumenti → Scheda</a:t>
            </a:r>
            <a:r>
              <a:rPr lang="it-IT" dirty="0"/>
              <a:t> (Tools → Board) seleziona </a:t>
            </a:r>
            <a:r>
              <a:rPr lang="it-IT" b="1" dirty="0"/>
              <a:t>"Arduino Uno"</a:t>
            </a:r>
            <a:endParaRPr lang="it-IT" dirty="0"/>
          </a:p>
          <a:p>
            <a:pPr>
              <a:buNone/>
            </a:pPr>
            <a:r>
              <a:rPr lang="it-IT" b="1" dirty="0"/>
              <a:t>3. Apri lo sketch attuale</a:t>
            </a:r>
          </a:p>
          <a:p>
            <a:pPr>
              <a:buNone/>
            </a:pPr>
            <a:r>
              <a:rPr lang="it-IT" dirty="0"/>
              <a:t>In Arduino IDE: </a:t>
            </a:r>
            <a:r>
              <a:rPr lang="it-IT" b="1" dirty="0"/>
              <a:t>File → Apri</a:t>
            </a:r>
            <a:r>
              <a:rPr lang="it-IT" dirty="0"/>
              <a:t>, e naviga fino al file </a:t>
            </a:r>
            <a:r>
              <a:rPr lang="it-IT" dirty="0">
                <a:latin typeface="Courier New" panose="02070309020205020404" pitchFamily="49" charset="0"/>
              </a:rPr>
              <a:t>prova1_mvd.ino</a:t>
            </a:r>
            <a:r>
              <a:rPr lang="it-IT" dirty="0"/>
              <a:t> che hai nel repo. Si apre l'editor con il codice attuale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85A25-15E3-7213-C667-2A2DDC02AB80}"/>
              </a:ext>
            </a:extLst>
          </p:cNvPr>
          <p:cNvSpPr txBox="1"/>
          <p:nvPr/>
        </p:nvSpPr>
        <p:spPr>
          <a:xfrm>
            <a:off x="333828" y="3859332"/>
            <a:ext cx="112630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NUOVO</a:t>
            </a:r>
          </a:p>
          <a:p>
            <a:pPr>
              <a:buNone/>
            </a:pPr>
            <a:r>
              <a:rPr lang="it-IT" dirty="0"/>
              <a:t>Aggiungiamo all'Arduino la capacità di </a:t>
            </a:r>
            <a:r>
              <a:rPr lang="it-IT" b="1" dirty="0"/>
              <a:t>ascoltare</a:t>
            </a:r>
            <a:r>
              <a:rPr lang="it-IT" dirty="0"/>
              <a:t> sulla seriale. Adesso lui solo </a:t>
            </a:r>
            <a:r>
              <a:rPr lang="it-IT" i="1" dirty="0"/>
              <a:t>parla</a:t>
            </a:r>
            <a:r>
              <a:rPr lang="it-IT" dirty="0"/>
              <a:t> (stampa </a:t>
            </a:r>
            <a:r>
              <a:rPr lang="it-IT" dirty="0">
                <a:latin typeface="Courier New" panose="02070309020205020404" pitchFamily="49" charset="0"/>
              </a:rPr>
              <a:t>y = ...</a:t>
            </a:r>
            <a:r>
              <a:rPr lang="it-IT" dirty="0"/>
              <a:t>). Vogliamo che ascolti due caratteri (Serial Monitor):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>
                <a:latin typeface="Courier New" panose="02070309020205020404" pitchFamily="49" charset="0"/>
              </a:rPr>
              <a:t>1, 2 o 3</a:t>
            </a:r>
            <a:r>
              <a:rPr lang="it-IT" dirty="0"/>
              <a:t> → fa partire la rampa di una delle tre cadute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>
                <a:latin typeface="Courier New" panose="02070309020205020404" pitchFamily="49" charset="0"/>
              </a:rPr>
              <a:t>R</a:t>
            </a:r>
            <a:r>
              <a:rPr lang="it-IT" dirty="0"/>
              <a:t> → resetta tutto</a:t>
            </a:r>
          </a:p>
        </p:txBody>
      </p:sp>
    </p:spTree>
    <p:extLst>
      <p:ext uri="{BB962C8B-B14F-4D97-AF65-F5344CB8AC3E}">
        <p14:creationId xmlns:p14="http://schemas.microsoft.com/office/powerpoint/2010/main" val="2805729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A1CBC5-F3DA-5304-02EF-8232D13C951F}"/>
              </a:ext>
            </a:extLst>
          </p:cNvPr>
          <p:cNvSpPr txBox="1"/>
          <p:nvPr/>
        </p:nvSpPr>
        <p:spPr>
          <a:xfrm>
            <a:off x="435429" y="112161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requirements </a:t>
            </a:r>
            <a:r>
              <a:rPr lang="en-US" dirty="0" err="1"/>
              <a:t>aggiunto</a:t>
            </a:r>
            <a:endParaRPr lang="en-US" dirty="0"/>
          </a:p>
          <a:p>
            <a:r>
              <a:rPr lang="en-US" dirty="0" err="1"/>
              <a:t>pyserial</a:t>
            </a:r>
            <a:r>
              <a:rPr lang="en-US" dirty="0"/>
              <a:t>==3.5</a:t>
            </a:r>
          </a:p>
          <a:p>
            <a:endParaRPr lang="en-US" dirty="0"/>
          </a:p>
          <a:p>
            <a:r>
              <a:rPr lang="it-IT" dirty="0" err="1"/>
              <a:t>pyserial</a:t>
            </a:r>
            <a:r>
              <a:rPr lang="it-IT" dirty="0"/>
              <a:t> è la libreria Python che permette di parlare con la seriale USB.</a:t>
            </a:r>
          </a:p>
          <a:p>
            <a:endParaRPr lang="it-IT" dirty="0"/>
          </a:p>
          <a:p>
            <a:r>
              <a:rPr lang="it-IT" dirty="0"/>
              <a:t>Dal terminale lancia:</a:t>
            </a:r>
            <a:br>
              <a:rPr lang="it-IT" dirty="0"/>
            </a:br>
            <a:r>
              <a:rPr lang="en-US" dirty="0"/>
              <a:t>pip install </a:t>
            </a:r>
            <a:r>
              <a:rPr lang="en-US" dirty="0" err="1"/>
              <a:t>pyserial</a:t>
            </a:r>
            <a:r>
              <a:rPr lang="en-US" dirty="0"/>
              <a:t>==3.5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7E6869-70D8-DDDB-7D39-50EC432153EA}"/>
              </a:ext>
            </a:extLst>
          </p:cNvPr>
          <p:cNvSpPr txBox="1"/>
          <p:nvPr/>
        </p:nvSpPr>
        <p:spPr>
          <a:xfrm>
            <a:off x="537028" y="421316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NUOVO</a:t>
            </a:r>
            <a:r>
              <a:rPr lang="it-IT" dirty="0"/>
              <a:t>  </a:t>
            </a:r>
            <a:r>
              <a:rPr lang="it-IT" dirty="0">
                <a:latin typeface="Courier New" panose="02070309020205020404" pitchFamily="49" charset="0"/>
              </a:rPr>
              <a:t>sensor_monitor.py</a:t>
            </a:r>
          </a:p>
          <a:p>
            <a:r>
              <a:rPr lang="it-IT" dirty="0"/>
              <a:t>«backend/sensor_monitor.py - V2.2 con lettura seriale Arduino Monitor per ascolto CONTINUO del sensore collegato al </a:t>
            </a:r>
            <a:r>
              <a:rPr lang="it-IT" dirty="0" err="1"/>
              <a:t>backend</a:t>
            </a:r>
            <a:r>
              <a:rPr lang="it-IT" dirty="0"/>
              <a:t> via USB.</a:t>
            </a:r>
          </a:p>
          <a:p>
            <a:r>
              <a:rPr lang="it-IT" dirty="0"/>
              <a:t>Sostituisce </a:t>
            </a:r>
            <a:r>
              <a:rPr lang="it-IT" dirty="0" err="1"/>
              <a:t>read_sensor</a:t>
            </a:r>
            <a:r>
              <a:rPr lang="it-IT" dirty="0"/>
              <a:t>() simulato con lettura reale da Arduino. Arduino gira lo sketch prova1_mvd: comando '2' avvia la rampa, 'R' resetta».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EB850B-A176-DB20-6E4A-362A3FE7610A}"/>
              </a:ext>
            </a:extLst>
          </p:cNvPr>
          <p:cNvSpPr txBox="1"/>
          <p:nvPr/>
        </p:nvSpPr>
        <p:spPr>
          <a:xfrm>
            <a:off x="7334552" y="936953"/>
            <a:ext cx="4422019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Crezione</a:t>
            </a:r>
            <a:r>
              <a:rPr lang="en-US" dirty="0"/>
              <a:t> virtual environment (1 volta):</a:t>
            </a:r>
          </a:p>
          <a:p>
            <a:endParaRPr lang="en-US" dirty="0"/>
          </a:p>
          <a:p>
            <a:r>
              <a:rPr lang="en-US" dirty="0"/>
              <a:t>cd C:\Users\…\backend </a:t>
            </a:r>
          </a:p>
          <a:p>
            <a:r>
              <a:rPr lang="en-US" dirty="0"/>
              <a:t>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Attivazione</a:t>
            </a:r>
            <a:r>
              <a:rPr lang="en-US" dirty="0"/>
              <a:t>:</a:t>
            </a:r>
          </a:p>
          <a:p>
            <a:r>
              <a:rPr lang="en-US" dirty="0" err="1"/>
              <a:t>venv</a:t>
            </a:r>
            <a:r>
              <a:rPr lang="en-US" dirty="0"/>
              <a:t>\Scripts\activate</a:t>
            </a:r>
          </a:p>
          <a:p>
            <a:endParaRPr lang="en-US" dirty="0"/>
          </a:p>
          <a:p>
            <a:r>
              <a:rPr lang="en-US" dirty="0"/>
              <a:t>Si </a:t>
            </a:r>
            <a:r>
              <a:rPr lang="en-US" dirty="0" err="1"/>
              <a:t>vedrà</a:t>
            </a:r>
            <a:r>
              <a:rPr lang="en-US" dirty="0"/>
              <a:t>:</a:t>
            </a:r>
          </a:p>
          <a:p>
            <a:r>
              <a:rPr lang="fr-FR" dirty="0"/>
              <a:t>(</a:t>
            </a:r>
            <a:r>
              <a:rPr lang="fr-FR" dirty="0" err="1"/>
              <a:t>venv</a:t>
            </a:r>
            <a:r>
              <a:rPr lang="fr-FR" dirty="0"/>
              <a:t>) C:\Users\...\Cai-CSMT\backend&gt;</a:t>
            </a:r>
          </a:p>
          <a:p>
            <a:endParaRPr lang="fr-FR" dirty="0"/>
          </a:p>
          <a:p>
            <a:r>
              <a:rPr lang="fr-FR" dirty="0" err="1"/>
              <a:t>Installazione</a:t>
            </a:r>
            <a:r>
              <a:rPr lang="fr-FR" dirty="0"/>
              <a:t> </a:t>
            </a:r>
            <a:r>
              <a:rPr lang="fr-FR" dirty="0" err="1"/>
              <a:t>requisiti</a:t>
            </a:r>
            <a:r>
              <a:rPr lang="fr-FR" dirty="0"/>
              <a:t> (1 volta):</a:t>
            </a:r>
          </a:p>
          <a:p>
            <a:r>
              <a:rPr lang="en-US" dirty="0"/>
              <a:t>pip install -r requirements.txt</a:t>
            </a:r>
          </a:p>
          <a:p>
            <a:endParaRPr lang="en-US" dirty="0"/>
          </a:p>
          <a:p>
            <a:r>
              <a:rPr lang="en-US" dirty="0"/>
              <a:t>Per </a:t>
            </a:r>
            <a:r>
              <a:rPr lang="en-US" dirty="0" err="1"/>
              <a:t>prova</a:t>
            </a:r>
            <a:r>
              <a:rPr lang="en-US" dirty="0"/>
              <a:t> </a:t>
            </a:r>
            <a:r>
              <a:rPr lang="en-US" dirty="0" err="1"/>
              <a:t>lanciare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python test_serial.py</a:t>
            </a:r>
          </a:p>
          <a:p>
            <a:r>
              <a:rPr lang="en-US" dirty="0"/>
              <a:t>…</a:t>
            </a:r>
          </a:p>
          <a:p>
            <a:r>
              <a:rPr lang="it-IT" sz="1400" dirty="0"/>
              <a:t>========== RISULTATO ==========</a:t>
            </a:r>
          </a:p>
          <a:p>
            <a:r>
              <a:rPr lang="it-IT" sz="1400" dirty="0"/>
              <a:t>Letture totali: 84</a:t>
            </a:r>
          </a:p>
          <a:p>
            <a:r>
              <a:rPr lang="it-IT" sz="1400" dirty="0"/>
              <a:t>Picco: 800.0</a:t>
            </a:r>
          </a:p>
          <a:p>
            <a:r>
              <a:rPr lang="it-IT" sz="1400" dirty="0"/>
              <a:t>Offset picco: 4142ms</a:t>
            </a:r>
          </a:p>
          <a:p>
            <a:r>
              <a:rPr lang="it-IT" sz="1400" dirty="0"/>
              <a:t>Durata: 7955ms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07320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902C5-39D7-37D3-6D42-FDE28F08E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88" y="3047263"/>
            <a:ext cx="2946662" cy="1319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414030-5E4B-0072-F7A8-D15020536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38" y="1593741"/>
            <a:ext cx="4852174" cy="1388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BB3D1A-ABDA-E92D-CCF4-67E2094698D5}"/>
              </a:ext>
            </a:extLst>
          </p:cNvPr>
          <p:cNvSpPr txBox="1"/>
          <p:nvPr/>
        </p:nvSpPr>
        <p:spPr>
          <a:xfrm>
            <a:off x="241490" y="605227"/>
            <a:ext cx="49788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Far partire il server React</a:t>
            </a:r>
          </a:p>
          <a:p>
            <a:pPr>
              <a:buNone/>
            </a:pPr>
            <a:r>
              <a:rPr lang="it-IT" dirty="0"/>
              <a:t>React/Vite girano su </a:t>
            </a:r>
            <a:r>
              <a:rPr lang="it-IT" b="1" dirty="0"/>
              <a:t>Node.js</a:t>
            </a:r>
            <a:r>
              <a:rPr lang="it-IT" dirty="0"/>
              <a:t>, che è un motore JavaScript per girare codice fuori dal browser.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7B1AAF-3EFC-A039-D8C4-CA23EC816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538" y="4496795"/>
            <a:ext cx="5888224" cy="21048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242B7C-8AAB-997A-57CD-F0F03423E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650" y="1635192"/>
            <a:ext cx="4077053" cy="11049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89EE7F-A41A-6AEE-3EA0-C0CBE12A0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4650" y="2911059"/>
            <a:ext cx="4102235" cy="18883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EA8AFB4-ADAE-F462-AFDF-B9FE4DEA1BAE}"/>
              </a:ext>
            </a:extLst>
          </p:cNvPr>
          <p:cNvSpPr txBox="1"/>
          <p:nvPr/>
        </p:nvSpPr>
        <p:spPr>
          <a:xfrm>
            <a:off x="7663542" y="5082791"/>
            <a:ext cx="42239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Quel </a:t>
            </a:r>
            <a:r>
              <a:rPr lang="it-IT" dirty="0">
                <a:latin typeface="Courier New" panose="02070309020205020404" pitchFamily="49" charset="0"/>
              </a:rPr>
              <a:t>http://localhost:5173/</a:t>
            </a:r>
            <a:r>
              <a:rPr lang="it-IT" dirty="0"/>
              <a:t> è l'indirizzo del tuo sito. </a:t>
            </a:r>
            <a:r>
              <a:rPr lang="it-IT" b="1" dirty="0"/>
              <a:t>Apri il browser </a:t>
            </a:r>
            <a:r>
              <a:rPr lang="it-IT" dirty="0"/>
              <a:t>(Chrome, Firefox, qualunque) </a:t>
            </a:r>
            <a:r>
              <a:rPr lang="it-IT" b="1" dirty="0"/>
              <a:t>e vai su quell'URL</a:t>
            </a:r>
            <a:r>
              <a:rPr lang="it-IT" dirty="0"/>
              <a:t>. Dovresti vedere la pagina React con il form.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862251-5387-327E-D689-193BCC027A8C}"/>
              </a:ext>
            </a:extLst>
          </p:cNvPr>
          <p:cNvSpPr/>
          <p:nvPr/>
        </p:nvSpPr>
        <p:spPr>
          <a:xfrm>
            <a:off x="1688495" y="5491238"/>
            <a:ext cx="1601410" cy="29996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8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EF7F74-68B8-09E1-BFB6-F64AC57121CF}"/>
              </a:ext>
            </a:extLst>
          </p:cNvPr>
          <p:cNvSpPr txBox="1"/>
          <p:nvPr/>
        </p:nvSpPr>
        <p:spPr>
          <a:xfrm>
            <a:off x="1054705" y="275771"/>
            <a:ext cx="9662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TO DO: definire bene i campi essenziali ed informativi per il CAI riguardo le prove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A9B6E0-F995-442D-C86E-DCF8F1CC2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52" y="872975"/>
            <a:ext cx="10029370" cy="5641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9B7E66-9DDD-31A2-1A43-078033F39373}"/>
              </a:ext>
            </a:extLst>
          </p:cNvPr>
          <p:cNvSpPr txBox="1"/>
          <p:nvPr/>
        </p:nvSpPr>
        <p:spPr>
          <a:xfrm>
            <a:off x="1054705" y="4907807"/>
            <a:ext cx="34540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bg1"/>
                </a:solidFill>
              </a:rPr>
              <a:t>N</a:t>
            </a:r>
            <a:r>
              <a:rPr lang="en-US" sz="1600" b="1" dirty="0">
                <a:solidFill>
                  <a:schemeClr val="bg1"/>
                </a:solidFill>
              </a:rPr>
              <a:t>UOVO: </a:t>
            </a:r>
            <a:r>
              <a:rPr lang="en-US" sz="1600" dirty="0" err="1">
                <a:solidFill>
                  <a:schemeClr val="bg1"/>
                </a:solidFill>
              </a:rPr>
              <a:t>salva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cadute</a:t>
            </a:r>
            <a:r>
              <a:rPr lang="en-US" sz="1600" dirty="0">
                <a:solidFill>
                  <a:schemeClr val="bg1"/>
                </a:solidFill>
              </a:rPr>
              <a:t> come csv </a:t>
            </a:r>
            <a:r>
              <a:rPr lang="en-US" sz="1600" dirty="0" err="1">
                <a:solidFill>
                  <a:schemeClr val="bg1"/>
                </a:solidFill>
              </a:rPr>
              <a:t>su</a:t>
            </a:r>
            <a:r>
              <a:rPr lang="en-US" sz="1600" dirty="0">
                <a:solidFill>
                  <a:schemeClr val="bg1"/>
                </a:solidFill>
              </a:rPr>
              <a:t> raspberry </a:t>
            </a:r>
            <a:r>
              <a:rPr lang="en-US" sz="1600" dirty="0" err="1">
                <a:solidFill>
                  <a:schemeClr val="bg1"/>
                </a:solidFill>
              </a:rPr>
              <a:t>oltre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json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</a:p>
          <a:p>
            <a:r>
              <a:rPr lang="en-US" sz="1600" dirty="0">
                <a:solidFill>
                  <a:schemeClr val="bg1"/>
                </a:solidFill>
              </a:rPr>
              <a:t>Tasto download dal </a:t>
            </a:r>
            <a:r>
              <a:rPr lang="en-US" sz="1600" dirty="0" err="1">
                <a:solidFill>
                  <a:schemeClr val="bg1"/>
                </a:solidFill>
              </a:rPr>
              <a:t>sito</a:t>
            </a:r>
            <a:r>
              <a:rPr lang="en-US" sz="1600" dirty="0">
                <a:solidFill>
                  <a:schemeClr val="bg1"/>
                </a:solidFill>
              </a:rPr>
              <a:t> per file csv con tutte le </a:t>
            </a:r>
            <a:r>
              <a:rPr lang="en-US" sz="1600" dirty="0" err="1">
                <a:solidFill>
                  <a:schemeClr val="bg1"/>
                </a:solidFill>
              </a:rPr>
              <a:t>cadute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fatte</a:t>
            </a:r>
            <a:r>
              <a:rPr lang="en-US" sz="1600" dirty="0">
                <a:solidFill>
                  <a:schemeClr val="bg1"/>
                </a:solidFill>
              </a:rPr>
              <a:t> e </a:t>
            </a:r>
            <a:r>
              <a:rPr lang="en-US" sz="1600" dirty="0" err="1">
                <a:solidFill>
                  <a:schemeClr val="bg1"/>
                </a:solidFill>
              </a:rPr>
              <a:t>salvate</a:t>
            </a:r>
            <a:endParaRPr lang="en-US" sz="16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383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854009-B959-7718-EB1E-39DDB380E688}"/>
              </a:ext>
            </a:extLst>
          </p:cNvPr>
          <p:cNvSpPr txBox="1"/>
          <p:nvPr/>
        </p:nvSpPr>
        <p:spPr>
          <a:xfrm>
            <a:off x="333828" y="821514"/>
            <a:ext cx="6096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NUOVO</a:t>
            </a:r>
            <a:r>
              <a:rPr lang="en-US" dirty="0"/>
              <a:t>: file </a:t>
            </a:r>
            <a:r>
              <a:rPr lang="en-US" b="1" dirty="0" err="1"/>
              <a:t>cai-csmt.service</a:t>
            </a:r>
            <a:r>
              <a:rPr lang="en-US" b="1" dirty="0"/>
              <a:t> </a:t>
            </a:r>
            <a:r>
              <a:rPr lang="en-US" dirty="0" err="1"/>
              <a:t>quando</a:t>
            </a:r>
            <a:r>
              <a:rPr lang="en-US" dirty="0"/>
              <a:t> lo </a:t>
            </a:r>
            <a:r>
              <a:rPr lang="en-US" dirty="0" err="1"/>
              <a:t>metteremo</a:t>
            </a:r>
            <a:r>
              <a:rPr lang="en-US" dirty="0"/>
              <a:t> </a:t>
            </a:r>
            <a:r>
              <a:rPr lang="en-US" dirty="0" err="1"/>
              <a:t>sull’raspberry</a:t>
            </a:r>
            <a:r>
              <a:rPr lang="en-US" dirty="0"/>
              <a:t> </a:t>
            </a:r>
            <a:r>
              <a:rPr lang="en-US" dirty="0" err="1"/>
              <a:t>perché</a:t>
            </a:r>
            <a:r>
              <a:rPr lang="en-US" dirty="0"/>
              <a:t> non </a:t>
            </a:r>
            <a:r>
              <a:rPr lang="en-US" dirty="0" err="1"/>
              <a:t>potremo</a:t>
            </a:r>
            <a:r>
              <a:rPr lang="en-US" dirty="0"/>
              <a:t> </a:t>
            </a:r>
            <a:r>
              <a:rPr lang="en-US" dirty="0" err="1"/>
              <a:t>lanciare</a:t>
            </a:r>
            <a:r>
              <a:rPr lang="en-US" dirty="0"/>
              <a:t> il file python main.py da </a:t>
            </a:r>
            <a:r>
              <a:rPr lang="en-US" dirty="0" err="1"/>
              <a:t>là</a:t>
            </a:r>
            <a:endParaRPr lang="en-US" dirty="0"/>
          </a:p>
          <a:p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A7816A-14FE-898E-66CD-1D0D27528291}"/>
              </a:ext>
            </a:extLst>
          </p:cNvPr>
          <p:cNvSpPr txBox="1"/>
          <p:nvPr/>
        </p:nvSpPr>
        <p:spPr>
          <a:xfrm>
            <a:off x="299961" y="1855685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b="1" dirty="0"/>
              <a:t>Cosa fa, sezione per sezione</a:t>
            </a:r>
          </a:p>
          <a:p>
            <a:pPr>
              <a:buNone/>
            </a:pPr>
            <a:r>
              <a:rPr lang="it-IT" sz="1400" b="1" dirty="0">
                <a:latin typeface="Courier New" panose="02070309020205020404" pitchFamily="49" charset="0"/>
              </a:rPr>
              <a:t>[Unit]</a:t>
            </a:r>
            <a:r>
              <a:rPr lang="it-IT" sz="1400" dirty="0"/>
              <a:t> — aspetta che la rete sia pronta prima di partire</a:t>
            </a:r>
          </a:p>
          <a:p>
            <a:pPr>
              <a:buNone/>
            </a:pPr>
            <a:r>
              <a:rPr lang="it-IT" sz="1400" b="1" dirty="0">
                <a:latin typeface="Courier New" panose="02070309020205020404" pitchFamily="49" charset="0"/>
              </a:rPr>
              <a:t>[Service]</a:t>
            </a:r>
            <a:r>
              <a:rPr lang="it-IT" sz="1400" dirty="0"/>
              <a:t> — il cuore. </a:t>
            </a:r>
            <a:r>
              <a:rPr lang="it-IT" sz="1400" dirty="0" err="1">
                <a:latin typeface="Courier New" panose="02070309020205020404" pitchFamily="49" charset="0"/>
              </a:rPr>
              <a:t>Type</a:t>
            </a:r>
            <a:r>
              <a:rPr lang="it-IT" sz="1400" dirty="0">
                <a:latin typeface="Courier New" panose="02070309020205020404" pitchFamily="49" charset="0"/>
              </a:rPr>
              <a:t>=</a:t>
            </a:r>
            <a:r>
              <a:rPr lang="it-IT" sz="1400" dirty="0" err="1">
                <a:latin typeface="Courier New" panose="02070309020205020404" pitchFamily="49" charset="0"/>
              </a:rPr>
              <a:t>simple</a:t>
            </a:r>
            <a:r>
              <a:rPr lang="it-IT" sz="1400" dirty="0"/>
              <a:t> dice che il programma gira in primo piano (non si "demonizza"). </a:t>
            </a:r>
            <a:r>
              <a:rPr lang="it-IT" sz="1400" dirty="0">
                <a:latin typeface="Courier New" panose="02070309020205020404" pitchFamily="49" charset="0"/>
              </a:rPr>
              <a:t>User=pi</a:t>
            </a:r>
            <a:r>
              <a:rPr lang="it-IT" sz="1400" dirty="0"/>
              <a:t> è l'utente che esegue il programma (di default sui Raspberry l'utente è </a:t>
            </a:r>
            <a:r>
              <a:rPr lang="it-IT" sz="1400" dirty="0">
                <a:latin typeface="Courier New" panose="02070309020205020404" pitchFamily="49" charset="0"/>
              </a:rPr>
              <a:t>pi</a:t>
            </a:r>
            <a:r>
              <a:rPr lang="it-IT" sz="1400" dirty="0"/>
              <a:t>; se ne avete uno diverso lo cambiate qui). </a:t>
            </a:r>
            <a:r>
              <a:rPr lang="it-IT" sz="1400" dirty="0" err="1">
                <a:latin typeface="Courier New" panose="02070309020205020404" pitchFamily="49" charset="0"/>
              </a:rPr>
              <a:t>WorkingDirectory</a:t>
            </a:r>
            <a:r>
              <a:rPr lang="it-IT" sz="1400" dirty="0"/>
              <a:t> è la cartella da cui parte (importante perché </a:t>
            </a:r>
            <a:r>
              <a:rPr lang="it-IT" sz="1400" dirty="0">
                <a:latin typeface="Courier New" panose="02070309020205020404" pitchFamily="49" charset="0"/>
              </a:rPr>
              <a:t>main.py</a:t>
            </a:r>
            <a:r>
              <a:rPr lang="it-IT" sz="1400" dirty="0"/>
              <a:t> usa percorsi relativi tipo </a:t>
            </a:r>
            <a:r>
              <a:rPr lang="it-IT" sz="1400" dirty="0">
                <a:latin typeface="Courier New" panose="02070309020205020404" pitchFamily="49" charset="0"/>
              </a:rPr>
              <a:t>./data/</a:t>
            </a:r>
            <a:r>
              <a:rPr lang="it-IT" sz="1400" dirty="0"/>
              <a:t>). </a:t>
            </a:r>
            <a:r>
              <a:rPr lang="it-IT" sz="1400" dirty="0" err="1">
                <a:latin typeface="Courier New" panose="02070309020205020404" pitchFamily="49" charset="0"/>
              </a:rPr>
              <a:t>ExecStart</a:t>
            </a:r>
            <a:r>
              <a:rPr lang="it-IT" sz="1400" dirty="0"/>
              <a:t> è il comando vero. </a:t>
            </a:r>
            <a:r>
              <a:rPr lang="it-IT" sz="1400" dirty="0" err="1">
                <a:latin typeface="Courier New" panose="02070309020205020404" pitchFamily="49" charset="0"/>
              </a:rPr>
              <a:t>Restart</a:t>
            </a:r>
            <a:r>
              <a:rPr lang="it-IT" sz="1400" dirty="0">
                <a:latin typeface="Courier New" panose="02070309020205020404" pitchFamily="49" charset="0"/>
              </a:rPr>
              <a:t>=on-</a:t>
            </a:r>
            <a:r>
              <a:rPr lang="it-IT" sz="1400" dirty="0" err="1">
                <a:latin typeface="Courier New" panose="02070309020205020404" pitchFamily="49" charset="0"/>
              </a:rPr>
              <a:t>failure</a:t>
            </a:r>
            <a:r>
              <a:rPr lang="it-IT" sz="1400" dirty="0"/>
              <a:t> significa "se crasha, riavvialo automaticamente dopo 5 secondi</a:t>
            </a:r>
          </a:p>
          <a:p>
            <a:pPr>
              <a:buNone/>
            </a:pPr>
            <a:r>
              <a:rPr lang="it-IT" sz="1400" b="1" dirty="0">
                <a:latin typeface="Courier New" panose="02070309020205020404" pitchFamily="49" charset="0"/>
              </a:rPr>
              <a:t>[</a:t>
            </a:r>
            <a:r>
              <a:rPr lang="it-IT" sz="1400" b="1" dirty="0" err="1">
                <a:latin typeface="Courier New" panose="02070309020205020404" pitchFamily="49" charset="0"/>
              </a:rPr>
              <a:t>Install</a:t>
            </a:r>
            <a:r>
              <a:rPr lang="it-IT" sz="1400" b="1" dirty="0">
                <a:latin typeface="Courier New" panose="02070309020205020404" pitchFamily="49" charset="0"/>
              </a:rPr>
              <a:t>]</a:t>
            </a:r>
            <a:r>
              <a:rPr lang="it-IT" sz="1400" dirty="0"/>
              <a:t> — </a:t>
            </a:r>
            <a:r>
              <a:rPr lang="it-IT" sz="1400" dirty="0" err="1">
                <a:latin typeface="Courier New" panose="02070309020205020404" pitchFamily="49" charset="0"/>
              </a:rPr>
              <a:t>WantedBy</a:t>
            </a:r>
            <a:r>
              <a:rPr lang="it-IT" sz="1400" dirty="0">
                <a:latin typeface="Courier New" panose="02070309020205020404" pitchFamily="49" charset="0"/>
              </a:rPr>
              <a:t>=multi-</a:t>
            </a:r>
            <a:r>
              <a:rPr lang="it-IT" sz="1400" dirty="0" err="1">
                <a:latin typeface="Courier New" panose="02070309020205020404" pitchFamily="49" charset="0"/>
              </a:rPr>
              <a:t>user.target</a:t>
            </a:r>
            <a:r>
              <a:rPr lang="it-IT" sz="1400" dirty="0"/>
              <a:t> significa "fai partire questo servizio quando il Raspberry arriva al </a:t>
            </a:r>
            <a:r>
              <a:rPr lang="it-IT" sz="1400" dirty="0" err="1"/>
              <a:t>runlevel</a:t>
            </a:r>
            <a:r>
              <a:rPr lang="it-IT" sz="1400" dirty="0"/>
              <a:t> multi-utente normale", ovvero al boot completato.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B3FC5F-2115-D176-ED27-6A7CCA821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2" y="915627"/>
            <a:ext cx="5384662" cy="32603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0C6364-7A51-53F1-44DC-E306B88DA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2" y="4247253"/>
            <a:ext cx="5384662" cy="25159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E301A44-5A21-D4AE-48A4-17752969A471}"/>
              </a:ext>
            </a:extLst>
          </p:cNvPr>
          <p:cNvSpPr txBox="1"/>
          <p:nvPr/>
        </p:nvSpPr>
        <p:spPr>
          <a:xfrm>
            <a:off x="2223105" y="213876"/>
            <a:ext cx="774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IL FUTURO, PER FAR FUNZIONARE RASPBERRY AL POSTO DEL PC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43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94D73-EBC7-8DE6-319D-B0C7C3203D68}"/>
              </a:ext>
            </a:extLst>
          </p:cNvPr>
          <p:cNvSpPr txBox="1"/>
          <p:nvPr/>
        </p:nvSpPr>
        <p:spPr>
          <a:xfrm>
            <a:off x="2201334" y="261257"/>
            <a:ext cx="7789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CONNESSIONE SITO(RASPBERRY) E ARDUINO(CELLA CARICO)</a:t>
            </a:r>
            <a:br>
              <a:rPr lang="it-IT" dirty="0"/>
            </a:br>
            <a:r>
              <a:rPr lang="it-IT" dirty="0"/>
              <a:t>PROVA CHE TUTTO FUNZIONA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041AA-C588-53D8-F2CE-FA69DC79FEF6}"/>
              </a:ext>
            </a:extLst>
          </p:cNvPr>
          <p:cNvSpPr txBox="1"/>
          <p:nvPr/>
        </p:nvSpPr>
        <p:spPr>
          <a:xfrm>
            <a:off x="668740" y="1150961"/>
            <a:ext cx="10799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it-IT" dirty="0"/>
              <a:t>Apro Anaconda Prompt</a:t>
            </a:r>
          </a:p>
          <a:p>
            <a:pPr marL="342900" indent="-342900">
              <a:buAutoNum type="arabicPeriod"/>
            </a:pPr>
            <a:r>
              <a:rPr lang="it-IT" dirty="0"/>
              <a:t>Vado nella cartella &gt; cd </a:t>
            </a:r>
            <a:r>
              <a:rPr lang="en-US" dirty="0"/>
              <a:t>C:\Users\aless\Desktop\Cai-CSMT-Simulatore\SITO V2.2\backend</a:t>
            </a:r>
          </a:p>
          <a:p>
            <a:pPr marL="342900" indent="-342900">
              <a:buFontTx/>
              <a:buAutoNum type="arabicPeriod"/>
            </a:pPr>
            <a:r>
              <a:rPr lang="it-IT" dirty="0"/>
              <a:t>Attivo ambiente  virtuale dove ho i requisiti delle librerie installate, &gt; </a:t>
            </a:r>
            <a:r>
              <a:rPr lang="en-US" dirty="0" err="1"/>
              <a:t>venv</a:t>
            </a:r>
            <a:r>
              <a:rPr lang="en-US" dirty="0"/>
              <a:t>\Scripts\activate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Avvio </a:t>
            </a:r>
            <a:r>
              <a:rPr lang="en-US" dirty="0" err="1"/>
              <a:t>l’applicazione</a:t>
            </a:r>
            <a:r>
              <a:rPr lang="en-US" dirty="0"/>
              <a:t> ed il server, &gt; python main.py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F80FB-C206-8A16-4E29-E3750F85F755}"/>
              </a:ext>
            </a:extLst>
          </p:cNvPr>
          <p:cNvSpPr txBox="1"/>
          <p:nvPr/>
        </p:nvSpPr>
        <p:spPr>
          <a:xfrm>
            <a:off x="673288" y="2556681"/>
            <a:ext cx="103359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it-IT" dirty="0"/>
              <a:t>Apro un altro terminale Anaconda Prompt</a:t>
            </a:r>
          </a:p>
          <a:p>
            <a:pPr marL="342900" indent="-342900">
              <a:buAutoNum type="arabicPeriod"/>
            </a:pPr>
            <a:r>
              <a:rPr lang="it-IT" dirty="0"/>
              <a:t>Vado nella cartella &gt; cd C:\Users\aless\Desktop\Cai-CSMT-Simulatore\SITO V2.2\</a:t>
            </a:r>
            <a:r>
              <a:rPr lang="it-IT" dirty="0" err="1"/>
              <a:t>frontend</a:t>
            </a:r>
            <a:endParaRPr lang="it-IT" dirty="0"/>
          </a:p>
          <a:p>
            <a:pPr marL="342900" indent="-342900">
              <a:buAutoNum type="arabicPeriod"/>
            </a:pPr>
            <a:r>
              <a:rPr lang="it-IT" dirty="0"/>
              <a:t>Faccio partire il sito, &gt;</a:t>
            </a:r>
            <a:r>
              <a:rPr lang="it-IT" dirty="0" err="1"/>
              <a:t>npm</a:t>
            </a:r>
            <a:r>
              <a:rPr lang="it-IT" dirty="0"/>
              <a:t> </a:t>
            </a:r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dirty="0" err="1"/>
              <a:t>dev</a:t>
            </a:r>
            <a:endParaRPr lang="it-IT" dirty="0"/>
          </a:p>
          <a:p>
            <a:pPr marL="342900" indent="-342900">
              <a:buAutoNum type="arabicPeriod"/>
            </a:pPr>
            <a:r>
              <a:rPr lang="it-IT" dirty="0"/>
              <a:t>Su Chrome vado al sito, </a:t>
            </a:r>
            <a:r>
              <a:rPr lang="it-IT" dirty="0">
                <a:hlinkClick r:id="rId2"/>
              </a:rPr>
              <a:t>http://localhost:5173/</a:t>
            </a:r>
            <a:endParaRPr lang="it-IT" dirty="0"/>
          </a:p>
          <a:p>
            <a:pPr marL="342900" indent="-342900">
              <a:buAutoNum type="arabicPeriod"/>
            </a:pPr>
            <a:r>
              <a:rPr lang="it-IT" dirty="0"/>
              <a:t>Compilo il form e clicco conferma</a:t>
            </a:r>
          </a:p>
          <a:p>
            <a:pPr marL="342900" indent="-342900">
              <a:buAutoNum type="arabicPeriod"/>
            </a:pPr>
            <a:r>
              <a:rPr lang="it-IT" dirty="0"/>
              <a:t>Aspetto un tot di secondi e clicco ho fatto la caduta</a:t>
            </a:r>
          </a:p>
          <a:p>
            <a:pPr marL="342900" indent="-342900">
              <a:buAutoNum type="arabicPeriod"/>
            </a:pPr>
            <a:r>
              <a:rPr lang="it-IT" dirty="0"/>
              <a:t>Clicco scarica su </a:t>
            </a:r>
            <a:r>
              <a:rPr lang="it-IT" dirty="0" err="1"/>
              <a:t>excel</a:t>
            </a:r>
            <a:r>
              <a:rPr lang="it-IT" dirty="0"/>
              <a:t> i file csv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2C6B578-4DCB-6DBF-B7A1-4BAF76B115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6318237"/>
              </p:ext>
            </p:extLst>
          </p:nvPr>
        </p:nvGraphicFramePr>
        <p:xfrm>
          <a:off x="7620000" y="38535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4E54417-B905-E0C1-E385-F20C7D68F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147" y="4945946"/>
            <a:ext cx="5780271" cy="15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4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2E1ED3-04FD-D1F4-C509-25EAB2210DFF}"/>
              </a:ext>
            </a:extLst>
          </p:cNvPr>
          <p:cNvSpPr txBox="1"/>
          <p:nvPr/>
        </p:nvSpPr>
        <p:spPr>
          <a:xfrm>
            <a:off x="852986" y="272956"/>
            <a:ext cx="104769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TO DO: CONNESSIONE CON MVD2555 INVECE CHE ARDUINO</a:t>
            </a:r>
          </a:p>
          <a:p>
            <a:pPr>
              <a:buNone/>
            </a:pPr>
            <a:endParaRPr lang="it-IT" b="1" dirty="0"/>
          </a:p>
          <a:p>
            <a:pPr>
              <a:buNone/>
            </a:pPr>
            <a:r>
              <a:rPr lang="it-IT" dirty="0"/>
              <a:t>In sensor_monitor.py</a:t>
            </a:r>
          </a:p>
          <a:p>
            <a:pPr>
              <a:buNone/>
            </a:pPr>
            <a:endParaRPr lang="it-IT" dirty="0"/>
          </a:p>
          <a:p>
            <a:pPr>
              <a:buFont typeface="+mj-lt"/>
              <a:buAutoNum type="arabicPeriod"/>
            </a:pPr>
            <a:r>
              <a:rPr lang="it-IT" b="1" dirty="0"/>
              <a:t>Cancellare lo SCENARIO </a:t>
            </a:r>
            <a:r>
              <a:rPr lang="it-IT" dirty="0"/>
              <a:t>e tutto il </a:t>
            </a:r>
            <a:r>
              <a:rPr lang="it-IT" dirty="0" err="1">
                <a:latin typeface="Courier New" panose="02070309020205020404" pitchFamily="49" charset="0"/>
              </a:rPr>
              <a:t>serial.write</a:t>
            </a:r>
            <a:r>
              <a:rPr lang="it-IT" dirty="0">
                <a:latin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</a:rPr>
              <a:t>cmd</a:t>
            </a:r>
            <a:r>
              <a:rPr lang="it-IT" dirty="0">
                <a:latin typeface="Courier New" panose="02070309020205020404" pitchFamily="49" charset="0"/>
              </a:rPr>
              <a:t>)</a:t>
            </a:r>
            <a:r>
              <a:rPr lang="it-IT" dirty="0"/>
              <a:t> di start. Probabilmente all'apertura della seriale l'MVD2555 sta già mandando dati o si interroga con un comando tipo </a:t>
            </a:r>
            <a:r>
              <a:rPr lang="it-IT" dirty="0">
                <a:latin typeface="Courier New" panose="02070309020205020404" pitchFamily="49" charset="0"/>
              </a:rPr>
              <a:t>MSV?1,0</a:t>
            </a:r>
            <a:r>
              <a:rPr lang="it-IT" dirty="0"/>
              <a:t> per "mandami i valori in continuo".</a:t>
            </a:r>
          </a:p>
          <a:p>
            <a:pPr>
              <a:buFont typeface="+mj-lt"/>
              <a:buAutoNum type="arabicPeriod"/>
            </a:pPr>
            <a:r>
              <a:rPr lang="it-IT" b="1" dirty="0"/>
              <a:t>Riscrivere il </a:t>
            </a:r>
            <a:r>
              <a:rPr lang="it-IT" b="1" dirty="0" err="1"/>
              <a:t>parsing</a:t>
            </a:r>
            <a:r>
              <a:rPr lang="it-IT" dirty="0"/>
              <a:t> delle righe ricevute, in base al formato dell'MVD2555 da manuale.</a:t>
            </a:r>
          </a:p>
          <a:p>
            <a:pPr>
              <a:buFont typeface="+mj-lt"/>
              <a:buAutoNum type="arabicPeriod"/>
            </a:pPr>
            <a:r>
              <a:rPr lang="it-IT" b="1" dirty="0"/>
              <a:t>Calibrare l'unità di misura</a:t>
            </a:r>
            <a:r>
              <a:rPr lang="it-IT" dirty="0"/>
              <a:t>. L'MVD2555 manda </a:t>
            </a:r>
            <a:r>
              <a:rPr lang="it-IT" dirty="0" err="1"/>
              <a:t>mV</a:t>
            </a:r>
            <a:r>
              <a:rPr lang="it-IT" dirty="0"/>
              <a:t> o V, vanno convertiti in Newton con il coefficiente della cella.</a:t>
            </a:r>
          </a:p>
          <a:p>
            <a:pPr>
              <a:buFont typeface="+mj-lt"/>
              <a:buAutoNum type="arabicPeriod"/>
            </a:pPr>
            <a:r>
              <a:rPr lang="it-IT" b="1" dirty="0"/>
              <a:t>Eventualmente fare la tara</a:t>
            </a:r>
            <a:r>
              <a:rPr lang="it-IT" dirty="0"/>
              <a:t> all'avvio (comando </a:t>
            </a:r>
            <a:r>
              <a:rPr lang="it-IT" dirty="0">
                <a:latin typeface="Courier New" panose="02070309020205020404" pitchFamily="49" charset="0"/>
              </a:rPr>
              <a:t>TAR</a:t>
            </a:r>
            <a:r>
              <a:rPr lang="it-IT" dirty="0"/>
              <a:t> dell'MVD2555 per azzerare la baseline).</a:t>
            </a:r>
          </a:p>
          <a:p>
            <a:pPr>
              <a:buFont typeface="+mj-lt"/>
              <a:buAutoNum type="arabicPeriod"/>
            </a:pPr>
            <a:r>
              <a:rPr lang="it-IT" b="1" dirty="0"/>
              <a:t>Cancellare il </a:t>
            </a:r>
            <a:r>
              <a:rPr lang="it-IT" b="1" dirty="0" err="1">
                <a:latin typeface="Courier New" panose="02070309020205020404" pitchFamily="49" charset="0"/>
              </a:rPr>
              <a:t>serial.write</a:t>
            </a:r>
            <a:r>
              <a:rPr lang="it-IT" b="1" dirty="0">
                <a:latin typeface="Courier New" panose="02070309020205020404" pitchFamily="49" charset="0"/>
              </a:rPr>
              <a:t>(</a:t>
            </a:r>
            <a:r>
              <a:rPr lang="it-IT" b="1" dirty="0" err="1">
                <a:latin typeface="Courier New" panose="02070309020205020404" pitchFamily="49" charset="0"/>
              </a:rPr>
              <a:t>b"R</a:t>
            </a:r>
            <a:r>
              <a:rPr lang="it-IT" b="1" dirty="0">
                <a:latin typeface="Courier New" panose="02070309020205020404" pitchFamily="49" charset="0"/>
              </a:rPr>
              <a:t>")</a:t>
            </a:r>
            <a:r>
              <a:rPr lang="it-IT" dirty="0"/>
              <a:t> allo stop, sostituendolo con quello che serve davvero (probabilmente niente).</a:t>
            </a:r>
          </a:p>
        </p:txBody>
      </p:sp>
    </p:spTree>
    <p:extLst>
      <p:ext uri="{BB962C8B-B14F-4D97-AF65-F5344CB8AC3E}">
        <p14:creationId xmlns:p14="http://schemas.microsoft.com/office/powerpoint/2010/main" val="63009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Conte</dc:creator>
  <cp:lastModifiedBy>Alessandro Conte</cp:lastModifiedBy>
  <cp:revision>9</cp:revision>
  <dcterms:created xsi:type="dcterms:W3CDTF">2026-05-01T17:15:16Z</dcterms:created>
  <dcterms:modified xsi:type="dcterms:W3CDTF">2026-05-02T16:32:28Z</dcterms:modified>
</cp:coreProperties>
</file>